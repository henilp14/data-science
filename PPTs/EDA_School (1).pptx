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- School Dataset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4230525"/>
            <a:ext cx="79824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1900">
                <a:solidFill>
                  <a:srgbClr val="888888"/>
                </a:solidFill>
              </a:rPr>
              <a:t>Unveiling insights into student performance, fees, and demographics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914400" y="1752600"/>
            <a:ext cx="73152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This analysis aims to uncover key insights about students, schools, and academic performance.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will explore: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Student demographics and income levels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Distribution of marks and academic performance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The relationship between school fees, family income, and performance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Patterns and trends for better decision-making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43650" y="691400"/>
            <a:ext cx="88065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Introduction: Understanding the Dataset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914400" y="1752600"/>
            <a:ext cx="7315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Total Students: 800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Number of Schools: 3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Classes Represented: 12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Age Range: 5 - 20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Marks Range: 55 - 500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Average Monthly Family Income: 24,664.21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Average Monthly School Fees: 2,853.75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 Key Numbers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 Process</a:t>
            </a:r>
            <a:endParaRPr sz="3000"/>
          </a:p>
        </p:txBody>
      </p:sp>
      <p:sp>
        <p:nvSpPr>
          <p:cNvPr id="105" name="Google Shape;105;p16"/>
          <p:cNvSpPr txBox="1"/>
          <p:nvPr/>
        </p:nvSpPr>
        <p:spPr>
          <a:xfrm>
            <a:off x="729450" y="1905000"/>
            <a:ext cx="79923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ensure data quality, the following cleaning steps were performed: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Handling Missing Values: Checked for missing or null values and addressed them appropriately.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Removing Duplicates: Ensured each student and school record is unique.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3. Correcting Data Types: Converted numerical and categorical variables correctly.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4. Outlier Detection: Identified and treated extreme values in marks, fees, and income.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Detection in Student Marks</a:t>
            </a:r>
            <a:endParaRPr sz="3000"/>
          </a:p>
        </p:txBody>
      </p:sp>
      <p:sp>
        <p:nvSpPr>
          <p:cNvPr id="111" name="Google Shape;111;p17"/>
          <p:cNvSpPr txBox="1"/>
          <p:nvPr/>
        </p:nvSpPr>
        <p:spPr>
          <a:xfrm>
            <a:off x="1133600" y="1905000"/>
            <a:ext cx="735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 showing extreme values in student marks.</a:t>
            </a:r>
            <a:endParaRPr sz="2600"/>
          </a:p>
        </p:txBody>
      </p:sp>
      <p:pic>
        <p:nvPicPr>
          <p:cNvPr descr="marks_outliers.png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5550" y="2621500"/>
            <a:ext cx="5097450" cy="33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729450" y="2821300"/>
            <a:ext cx="3164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There are total 2 students who have every </a:t>
            </a: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extremely</a:t>
            </a: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low marks compared to overall marks.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Detection in School Fees</a:t>
            </a:r>
            <a:endParaRPr sz="3000"/>
          </a:p>
        </p:txBody>
      </p:sp>
      <p:sp>
        <p:nvSpPr>
          <p:cNvPr id="119" name="Google Shape;119;p18"/>
          <p:cNvSpPr txBox="1"/>
          <p:nvPr/>
        </p:nvSpPr>
        <p:spPr>
          <a:xfrm>
            <a:off x="1524000" y="182880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 showing extreme values in school fees.</a:t>
            </a:r>
            <a:endParaRPr sz="2600"/>
          </a:p>
        </p:txBody>
      </p:sp>
      <p:pic>
        <p:nvPicPr>
          <p:cNvPr descr="fees_outliers.png"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450" y="26670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532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Students Perform?</a:t>
            </a:r>
            <a:endParaRPr sz="3000"/>
          </a:p>
        </p:txBody>
      </p:sp>
      <p:sp>
        <p:nvSpPr>
          <p:cNvPr id="126" name="Google Shape;126;p19"/>
          <p:cNvSpPr txBox="1"/>
          <p:nvPr/>
        </p:nvSpPr>
        <p:spPr>
          <a:xfrm>
            <a:off x="762000" y="19812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distribution of student marks gives insights into overall performance.</a:t>
            </a:r>
            <a:endParaRPr sz="2600"/>
          </a:p>
        </p:txBody>
      </p:sp>
      <p:pic>
        <p:nvPicPr>
          <p:cNvPr descr="marks_distribution_updated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946400"/>
            <a:ext cx="4953000" cy="33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306925" y="3175000"/>
            <a:ext cx="42651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 5 has the highest average marks (375.24),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while Class 9 has the lowest average marks (322.4).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Rate: Who Needs More Support?</a:t>
            </a:r>
            <a:endParaRPr sz="3000"/>
          </a:p>
        </p:txBody>
      </p:sp>
      <p:sp>
        <p:nvSpPr>
          <p:cNvPr id="134" name="Google Shape;134;p20"/>
          <p:cNvSpPr txBox="1"/>
          <p:nvPr/>
        </p:nvSpPr>
        <p:spPr>
          <a:xfrm>
            <a:off x="443325" y="2286000"/>
            <a:ext cx="4279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Percentage of students who scored below 200 passing marks from all the schools : 6.62%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 2 has the highest failure rate, with 10% of students scoring below the passing marks.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905000"/>
            <a:ext cx="371475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6914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Old Are the Students?</a:t>
            </a:r>
            <a:endParaRPr sz="3000"/>
          </a:p>
        </p:txBody>
      </p:sp>
      <p:sp>
        <p:nvSpPr>
          <p:cNvPr id="141" name="Google Shape;141;p21"/>
          <p:cNvSpPr txBox="1"/>
          <p:nvPr/>
        </p:nvSpPr>
        <p:spPr>
          <a:xfrm>
            <a:off x="914400" y="190500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age distribution across schools.</a:t>
            </a:r>
            <a:endParaRPr sz="2600"/>
          </a:p>
        </p:txBody>
      </p:sp>
      <p:pic>
        <p:nvPicPr>
          <p:cNvPr descr="age_distribution.pn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7432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Families Afford School Fees?</a:t>
            </a:r>
            <a:endParaRPr sz="3000"/>
          </a:p>
        </p:txBody>
      </p:sp>
      <p:sp>
        <p:nvSpPr>
          <p:cNvPr id="148" name="Google Shape;148;p22"/>
          <p:cNvSpPr txBox="1"/>
          <p:nvPr/>
        </p:nvSpPr>
        <p:spPr>
          <a:xfrm>
            <a:off x="1066800" y="17526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Exploring the relationship between family income and school fees.</a:t>
            </a:r>
            <a:endParaRPr sz="2600"/>
          </a:p>
        </p:txBody>
      </p:sp>
      <p:pic>
        <p:nvPicPr>
          <p:cNvPr descr="income_vs_fees_updated.pn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194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5790250" y="3005675"/>
            <a:ext cx="3153900" cy="3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Approximately 19% of students cannot afford their school fees, as their fees exceed 20% of their monthly family income. 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9450" y="8438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Factors Influence Performance?</a:t>
            </a:r>
            <a:endParaRPr sz="3000"/>
          </a:p>
        </p:txBody>
      </p:sp>
      <p:sp>
        <p:nvSpPr>
          <p:cNvPr id="156" name="Google Shape;156;p23"/>
          <p:cNvSpPr txBox="1"/>
          <p:nvPr/>
        </p:nvSpPr>
        <p:spPr>
          <a:xfrm>
            <a:off x="914400" y="17526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 between fees, marks, and family income.</a:t>
            </a:r>
            <a:endParaRPr sz="2600"/>
          </a:p>
        </p:txBody>
      </p:sp>
      <p:pic>
        <p:nvPicPr>
          <p:cNvPr descr="correlation_heatmap_updated.png"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3200400"/>
            <a:ext cx="4584726" cy="305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433925" y="3100925"/>
            <a:ext cx="3985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Weak Correlation Between Fees and Marks (-0.05)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Negligible Correlation Between Family Income and Marks (-0.039)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Almost No Correlation Between Fees and Family Income (-0.022)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Income Levels of Families</a:t>
            </a:r>
            <a:endParaRPr sz="3000"/>
          </a:p>
        </p:txBody>
      </p:sp>
      <p:sp>
        <p:nvSpPr>
          <p:cNvPr id="164" name="Google Shape;164;p24"/>
          <p:cNvSpPr txBox="1"/>
          <p:nvPr/>
        </p:nvSpPr>
        <p:spPr>
          <a:xfrm>
            <a:off x="685800" y="1905000"/>
            <a:ext cx="775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showing the distribution of family incomes.</a:t>
            </a:r>
            <a:endParaRPr sz="2600"/>
          </a:p>
        </p:txBody>
      </p:sp>
      <p:pic>
        <p:nvPicPr>
          <p:cNvPr descr="income_distribution.png"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27432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349250" y="3370900"/>
            <a:ext cx="34080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Approximately 9% of families have a monthly income of less than 10,000. 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Schools Perform Best?</a:t>
            </a:r>
            <a:endParaRPr sz="3000"/>
          </a:p>
        </p:txBody>
      </p:sp>
      <p:sp>
        <p:nvSpPr>
          <p:cNvPr id="172" name="Google Shape;172;p25"/>
          <p:cNvSpPr txBox="1"/>
          <p:nvPr/>
        </p:nvSpPr>
        <p:spPr>
          <a:xfrm>
            <a:off x="914400" y="167640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 chart showing the average marks per school.</a:t>
            </a:r>
            <a:endParaRPr sz="2600"/>
          </a:p>
        </p:txBody>
      </p:sp>
      <p:pic>
        <p:nvPicPr>
          <p:cNvPr descr="school_avg_marks.png" id="173" name="Google Shape;1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438400"/>
            <a:ext cx="5486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Age Affect Performance?</a:t>
            </a:r>
            <a:endParaRPr sz="3000"/>
          </a:p>
        </p:txBody>
      </p:sp>
      <p:sp>
        <p:nvSpPr>
          <p:cNvPr id="179" name="Google Shape;179;p26"/>
          <p:cNvSpPr txBox="1"/>
          <p:nvPr/>
        </p:nvSpPr>
        <p:spPr>
          <a:xfrm>
            <a:off x="914400" y="16764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 plot showing the relationship between age and student marks.</a:t>
            </a:r>
            <a:endParaRPr sz="2600"/>
          </a:p>
        </p:txBody>
      </p:sp>
      <p:pic>
        <p:nvPicPr>
          <p:cNvPr descr="age_vs_marks.png" id="180" name="Google Shape;1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27432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720850" y="3565650"/>
            <a:ext cx="31221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correlation between Age and Overall Marks is -0.026, indicating an almost negligible relationship. 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understanding the data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914400" y="1981200"/>
            <a:ext cx="73152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Data-Driven Decision Making: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Schools can utilize this analysis to optimize resource allocation, improve student performance, and design targeted interventions.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Financial Insights for Policy Makers: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The correlation between family income and school fees highlights the need for structured financial aid programs.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Suggestions for Improvement in students</a:t>
            </a:r>
            <a:endParaRPr sz="3000"/>
          </a:p>
        </p:txBody>
      </p:sp>
      <p:sp>
        <p:nvSpPr>
          <p:cNvPr id="193" name="Google Shape;193;p28"/>
          <p:cNvSpPr txBox="1"/>
          <p:nvPr/>
        </p:nvSpPr>
        <p:spPr>
          <a:xfrm>
            <a:off x="914400" y="1981200"/>
            <a:ext cx="7315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Implementing Need-Based Scholarships: Schools should introduce financial aid programs to support students from lower-income backgrounds.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Enhancing Learning Support: Schools should identify students at risk of failure early and provide additional academic resources.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/>
          </a:p>
        </p:txBody>
      </p:sp>
      <p:sp>
        <p:nvSpPr>
          <p:cNvPr id="199" name="Google Shape;199;p29"/>
          <p:cNvSpPr txBox="1"/>
          <p:nvPr/>
        </p:nvSpPr>
        <p:spPr>
          <a:xfrm>
            <a:off x="990600" y="1828800"/>
            <a:ext cx="7315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 significant percentage of students scored below the passing mark.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Family income does </a:t>
            </a: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little influence on</a:t>
            </a: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the type of school students attend.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Higher school fees not strongly linked to better academic performance.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