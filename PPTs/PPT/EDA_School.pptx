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48725B-FCAB-478C-A758-11682D919644}">
  <a:tblStyle styleId="{EB48725B-FCAB-478C-A758-11682D9196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Robo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Lato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33ffd349f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33ffd349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4230533"/>
            <a:ext cx="7688100" cy="7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763267"/>
            <a:ext cx="7688400" cy="20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758200"/>
            <a:ext cx="76887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771833"/>
            <a:ext cx="76887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771833"/>
            <a:ext cx="37743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758200"/>
            <a:ext cx="7688400" cy="7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758200"/>
            <a:ext cx="3300900" cy="18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3708967"/>
            <a:ext cx="3300900" cy="21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1152400"/>
            <a:ext cx="7021200" cy="398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588427"/>
            <a:ext cx="745763" cy="61102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758200"/>
            <a:ext cx="3300900" cy="22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4215367"/>
            <a:ext cx="3300900" cy="101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803500"/>
            <a:ext cx="3374400" cy="40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5830068"/>
            <a:ext cx="76974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5558926"/>
            <a:ext cx="745763" cy="61102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978600"/>
            <a:ext cx="7688400" cy="16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3030517"/>
            <a:ext cx="7688400" cy="210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763267"/>
            <a:ext cx="76881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Exploratory Data Analysis (EDA) - School Dataset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5" y="4230525"/>
            <a:ext cx="79824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 sz="1900">
                <a:solidFill>
                  <a:srgbClr val="888888"/>
                </a:solidFill>
              </a:rPr>
              <a:t>Unveiling insights into student performance, fees, and demographics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025" y="1560563"/>
            <a:ext cx="3416249" cy="26729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" name="Google Shape;93;p14"/>
          <p:cNvGrpSpPr/>
          <p:nvPr/>
        </p:nvGrpSpPr>
        <p:grpSpPr>
          <a:xfrm>
            <a:off x="3748151" y="3000380"/>
            <a:ext cx="1531893" cy="1501023"/>
            <a:chOff x="3664038" y="1663782"/>
            <a:chExt cx="1815900" cy="1815900"/>
          </a:xfrm>
        </p:grpSpPr>
        <p:sp>
          <p:nvSpPr>
            <p:cNvPr id="94" name="Google Shape;94;p14"/>
            <p:cNvSpPr/>
            <p:nvPr/>
          </p:nvSpPr>
          <p:spPr>
            <a:xfrm>
              <a:off x="3664038" y="1663782"/>
              <a:ext cx="1815900" cy="1815900"/>
            </a:xfrm>
            <a:prstGeom prst="ellipse">
              <a:avLst/>
            </a:prstGeom>
            <a:solidFill>
              <a:srgbClr val="1B786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4"/>
            <p:cNvSpPr txBox="1"/>
            <p:nvPr/>
          </p:nvSpPr>
          <p:spPr>
            <a:xfrm>
              <a:off x="3899988" y="2158482"/>
              <a:ext cx="1344000" cy="82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SCHOOLS</a:t>
              </a:r>
              <a:endParaRPr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6" name="Google Shape;96;p14"/>
          <p:cNvGrpSpPr/>
          <p:nvPr/>
        </p:nvGrpSpPr>
        <p:grpSpPr>
          <a:xfrm>
            <a:off x="4067227" y="2146045"/>
            <a:ext cx="901471" cy="883305"/>
            <a:chOff x="2859873" y="853971"/>
            <a:chExt cx="1068600" cy="1068600"/>
          </a:xfrm>
        </p:grpSpPr>
        <p:sp>
          <p:nvSpPr>
            <p:cNvPr id="97" name="Google Shape;97;p14"/>
            <p:cNvSpPr/>
            <p:nvPr/>
          </p:nvSpPr>
          <p:spPr>
            <a:xfrm>
              <a:off x="2859873" y="853971"/>
              <a:ext cx="1068600" cy="1068600"/>
            </a:xfrm>
            <a:prstGeom prst="ellipse">
              <a:avLst/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3012800" y="1022197"/>
              <a:ext cx="762600" cy="73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RLA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9" name="Google Shape;99;p14"/>
          <p:cNvGrpSpPr/>
          <p:nvPr/>
        </p:nvGrpSpPr>
        <p:grpSpPr>
          <a:xfrm>
            <a:off x="2918851" y="3934882"/>
            <a:ext cx="1224654" cy="883305"/>
            <a:chOff x="2679233" y="853971"/>
            <a:chExt cx="1451700" cy="1068600"/>
          </a:xfrm>
        </p:grpSpPr>
        <p:sp>
          <p:nvSpPr>
            <p:cNvPr id="100" name="Google Shape;100;p14"/>
            <p:cNvSpPr/>
            <p:nvPr/>
          </p:nvSpPr>
          <p:spPr>
            <a:xfrm>
              <a:off x="2859873" y="853971"/>
              <a:ext cx="1068600" cy="1068600"/>
            </a:xfrm>
            <a:prstGeom prst="ellipse">
              <a:avLst/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2679233" y="1022213"/>
              <a:ext cx="1451700" cy="73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MONTFORT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2" name="Google Shape;102;p14"/>
          <p:cNvGrpSpPr/>
          <p:nvPr/>
        </p:nvGrpSpPr>
        <p:grpSpPr>
          <a:xfrm>
            <a:off x="5127771" y="3852512"/>
            <a:ext cx="901471" cy="883305"/>
            <a:chOff x="5214448" y="3234278"/>
            <a:chExt cx="1068600" cy="1068600"/>
          </a:xfrm>
        </p:grpSpPr>
        <p:sp>
          <p:nvSpPr>
            <p:cNvPr id="103" name="Google Shape;103;p14"/>
            <p:cNvSpPr/>
            <p:nvPr/>
          </p:nvSpPr>
          <p:spPr>
            <a:xfrm>
              <a:off x="5214448" y="3234278"/>
              <a:ext cx="1068600" cy="1068600"/>
            </a:xfrm>
            <a:prstGeom prst="ellipse">
              <a:avLst/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4"/>
            <p:cNvSpPr txBox="1"/>
            <p:nvPr/>
          </p:nvSpPr>
          <p:spPr>
            <a:xfrm>
              <a:off x="5367375" y="3402503"/>
              <a:ext cx="762600" cy="73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ABN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05" name="Google Shape;105;p14"/>
          <p:cNvCxnSpPr>
            <a:stCxn id="97" idx="0"/>
          </p:cNvCxnSpPr>
          <p:nvPr/>
        </p:nvCxnSpPr>
        <p:spPr>
          <a:xfrm rot="10800000">
            <a:off x="4486463" y="1304845"/>
            <a:ext cx="31500" cy="84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4"/>
          <p:cNvCxnSpPr/>
          <p:nvPr/>
        </p:nvCxnSpPr>
        <p:spPr>
          <a:xfrm flipH="1">
            <a:off x="2215575" y="4680234"/>
            <a:ext cx="914700" cy="72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4"/>
          <p:cNvCxnSpPr/>
          <p:nvPr/>
        </p:nvCxnSpPr>
        <p:spPr>
          <a:xfrm>
            <a:off x="5917952" y="4627585"/>
            <a:ext cx="707100" cy="75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" name="Google Shape;108;p14"/>
          <p:cNvSpPr txBox="1"/>
          <p:nvPr/>
        </p:nvSpPr>
        <p:spPr>
          <a:xfrm>
            <a:off x="3209175" y="505225"/>
            <a:ext cx="5392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Total </a:t>
            </a:r>
            <a:r>
              <a:rPr b="1" lang="en-US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class range : 9-12</a:t>
            </a: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Total</a:t>
            </a:r>
            <a:r>
              <a:rPr b="1" lang="en-US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 number of students in each class:50</a:t>
            </a: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Total number of students in school:200</a:t>
            </a: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Student_ID : 3</a:t>
            </a: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79425" y="5303934"/>
            <a:ext cx="42675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Total Class range : 9 -12</a:t>
            </a: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Total number of students in each class : 50</a:t>
            </a: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Total number of students in school:200</a:t>
            </a: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Student_ID : 2</a:t>
            </a: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5527257" y="5461614"/>
            <a:ext cx="40941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Total class range : 1-8</a:t>
            </a: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Total number of students in each class:50</a:t>
            </a:r>
            <a:endParaRPr b="1"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Total number of students in school : 400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Student_ID : 1 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953850" y="95275"/>
            <a:ext cx="65229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Introduction</a:t>
            </a:r>
            <a:endParaRPr b="1" sz="27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2" name="Google Shape;112;p14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3751" y="1612525"/>
            <a:ext cx="3511793" cy="2169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5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Charts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1524000" y="1828800"/>
            <a:ext cx="7315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pic>
        <p:nvPicPr>
          <p:cNvPr id="119" name="Google Shape;119;p15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1711800"/>
            <a:ext cx="4260350" cy="2632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rks_distribution_updated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1350" y="1803400"/>
            <a:ext cx="4197849" cy="21753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ge_distribution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700" y="4357300"/>
            <a:ext cx="3524751" cy="234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1575" y="4455325"/>
            <a:ext cx="3590974" cy="206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914400" y="1752600"/>
            <a:ext cx="73152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Total Students: 800</a:t>
            </a:r>
            <a:endParaRPr sz="26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Number of Schools: 3</a:t>
            </a:r>
            <a:endParaRPr sz="26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Classes Represented: 1 to 12</a:t>
            </a:r>
            <a:endParaRPr sz="26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Age Range: 5 - 20</a:t>
            </a:r>
            <a:endParaRPr sz="26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Marks Range: 55 - 500</a:t>
            </a:r>
            <a:endParaRPr sz="26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Average Monthly Family Income: 24,664.21</a:t>
            </a:r>
            <a:endParaRPr sz="26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Average Monthly School Fees: 2,853.75</a:t>
            </a:r>
            <a:endParaRPr sz="26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 Overview: Key Numbers</a:t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Quality Check</a:t>
            </a:r>
            <a:endParaRPr sz="3000"/>
          </a:p>
        </p:txBody>
      </p:sp>
      <p:graphicFrame>
        <p:nvGraphicFramePr>
          <p:cNvPr id="134" name="Google Shape;134;p17"/>
          <p:cNvGraphicFramePr/>
          <p:nvPr/>
        </p:nvGraphicFramePr>
        <p:xfrm>
          <a:off x="95250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{EB48725B-FCAB-478C-A758-11682D919644}</a:tableStyleId>
              </a:tblPr>
              <a:tblGrid>
                <a:gridCol w="3619500"/>
                <a:gridCol w="4174125"/>
              </a:tblGrid>
              <a:tr h="58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Missing Values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No </a:t>
                      </a:r>
                      <a:r>
                        <a:rPr lang="en-US" sz="1500"/>
                        <a:t>Missing</a:t>
                      </a:r>
                      <a:r>
                        <a:rPr lang="en-US" sz="1500"/>
                        <a:t> Values Found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757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Duplicate Values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No Duplicate Values Found</a:t>
                      </a:r>
                      <a:endParaRPr sz="1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5" name="Google Shape;135;p17"/>
          <p:cNvSpPr txBox="1"/>
          <p:nvPr>
            <p:ph type="title"/>
          </p:nvPr>
        </p:nvSpPr>
        <p:spPr>
          <a:xfrm>
            <a:off x="805650" y="3434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6666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Outlier Detection</a:t>
            </a:r>
            <a:endParaRPr sz="3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6666"/>
              <a:buFont typeface="Calibri"/>
              <a:buNone/>
            </a:pPr>
            <a:r>
              <a:t/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arks_outliers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3350" y="3949300"/>
            <a:ext cx="3802050" cy="253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196050" y="4345300"/>
            <a:ext cx="5303400" cy="17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There are total 2 students who have every extremely low marks compared to overall marks.</a:t>
            </a:r>
            <a:endParaRPr sz="2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Rate: Who Needs More Support?</a:t>
            </a:r>
            <a:endParaRPr sz="3000"/>
          </a:p>
        </p:txBody>
      </p:sp>
      <p:sp>
        <p:nvSpPr>
          <p:cNvPr id="143" name="Google Shape;143;p18"/>
          <p:cNvSpPr txBox="1"/>
          <p:nvPr/>
        </p:nvSpPr>
        <p:spPr>
          <a:xfrm>
            <a:off x="443325" y="2320500"/>
            <a:ext cx="42792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Assumption : Passing marks = 200/500</a:t>
            </a:r>
            <a:endParaRPr b="1"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Percentage of students who scored below 200 passing marks from all the schools : 6.62%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AutoNum type="arabicPeriod"/>
            </a:pP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Class 2 has the highest failure rate, with 10% of students scoring below the passing marks.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00" y="1905000"/>
            <a:ext cx="3714750" cy="38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Families Afford School Fees?</a:t>
            </a:r>
            <a:endParaRPr sz="3000"/>
          </a:p>
        </p:txBody>
      </p:sp>
      <p:sp>
        <p:nvSpPr>
          <p:cNvPr id="150" name="Google Shape;150;p19"/>
          <p:cNvSpPr txBox="1"/>
          <p:nvPr/>
        </p:nvSpPr>
        <p:spPr>
          <a:xfrm>
            <a:off x="1066800" y="1752600"/>
            <a:ext cx="7315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Exploring the relationship between family income and school fees.</a:t>
            </a:r>
            <a:endParaRPr sz="2600"/>
          </a:p>
        </p:txBody>
      </p:sp>
      <p:pic>
        <p:nvPicPr>
          <p:cNvPr descr="income_vs_fees_updated.png" id="151" name="Google Shape;15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819400"/>
            <a:ext cx="54864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5790250" y="3005675"/>
            <a:ext cx="3153900" cy="31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Assumption: Students can Afford if school fees&gt;20 % monthly family income.</a:t>
            </a:r>
            <a:endParaRPr b="1"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Approximately 19% of students cannot afford their school fees, as their fees exceed 20% of their monthly family income. 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Income Levels of Families</a:t>
            </a:r>
            <a:endParaRPr sz="2900"/>
          </a:p>
        </p:txBody>
      </p:sp>
      <p:sp>
        <p:nvSpPr>
          <p:cNvPr id="158" name="Google Shape;158;p20"/>
          <p:cNvSpPr txBox="1"/>
          <p:nvPr/>
        </p:nvSpPr>
        <p:spPr>
          <a:xfrm>
            <a:off x="685800" y="1905000"/>
            <a:ext cx="7753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Histogram showing the distribution of family incomes.</a:t>
            </a:r>
            <a:endParaRPr sz="2600"/>
          </a:p>
        </p:txBody>
      </p:sp>
      <p:pic>
        <p:nvPicPr>
          <p:cNvPr descr="income_distribution.png" id="159" name="Google Shape;15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743200"/>
            <a:ext cx="54864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/>
        </p:nvSpPr>
        <p:spPr>
          <a:xfrm>
            <a:off x="5530850" y="3370900"/>
            <a:ext cx="3408000" cy="17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Approximately 9% of families have a monthly income of less than 10,000. 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1"/>
          <p:cNvSpPr txBox="1"/>
          <p:nvPr>
            <p:ph type="title"/>
          </p:nvPr>
        </p:nvSpPr>
        <p:spPr>
          <a:xfrm>
            <a:off x="729450" y="8438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Factors Influence Performance?</a:t>
            </a:r>
            <a:endParaRPr sz="3000"/>
          </a:p>
        </p:txBody>
      </p:sp>
      <p:sp>
        <p:nvSpPr>
          <p:cNvPr id="166" name="Google Shape;166;p21"/>
          <p:cNvSpPr txBox="1"/>
          <p:nvPr/>
        </p:nvSpPr>
        <p:spPr>
          <a:xfrm>
            <a:off x="914400" y="1752600"/>
            <a:ext cx="7315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Correlation analysis between fees, marks, and family income.</a:t>
            </a:r>
            <a:endParaRPr sz="2600"/>
          </a:p>
        </p:txBody>
      </p:sp>
      <p:pic>
        <p:nvPicPr>
          <p:cNvPr descr="correlation_heatmap_updated.png" id="167" name="Google Shape;16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9600" y="3200400"/>
            <a:ext cx="4584726" cy="305647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1"/>
          <p:cNvSpPr txBox="1"/>
          <p:nvPr/>
        </p:nvSpPr>
        <p:spPr>
          <a:xfrm>
            <a:off x="433925" y="3100925"/>
            <a:ext cx="3985800" cy="3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Weak Correlation Between Fees and Marks (-0.05)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Negligible Correlation Between Family Income and Marks (-0.039)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Calibri"/>
              <a:buAutoNum type="arabicPeriod"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Almost No Correlation Between Fees and Family Income (-0.022)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Age Affect Performance?</a:t>
            </a:r>
            <a:endParaRPr sz="3000"/>
          </a:p>
        </p:txBody>
      </p:sp>
      <p:sp>
        <p:nvSpPr>
          <p:cNvPr id="174" name="Google Shape;174;p22"/>
          <p:cNvSpPr txBox="1"/>
          <p:nvPr/>
        </p:nvSpPr>
        <p:spPr>
          <a:xfrm>
            <a:off x="914400" y="1676400"/>
            <a:ext cx="7315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Scatter plot showing the relationship between age and student marks.</a:t>
            </a:r>
            <a:endParaRPr sz="2600"/>
          </a:p>
        </p:txBody>
      </p:sp>
      <p:pic>
        <p:nvPicPr>
          <p:cNvPr descr="age_vs_marks.png" id="175" name="Google Shape;1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2743200"/>
            <a:ext cx="54864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2"/>
          <p:cNvSpPr txBox="1"/>
          <p:nvPr/>
        </p:nvSpPr>
        <p:spPr>
          <a:xfrm>
            <a:off x="720850" y="3565650"/>
            <a:ext cx="3122100" cy="19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 correlation between Age and Overall Marks is -0.026, indicating an almost negligible relationship. 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understanding the data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3"/>
          <p:cNvSpPr txBox="1"/>
          <p:nvPr/>
        </p:nvSpPr>
        <p:spPr>
          <a:xfrm>
            <a:off x="914400" y="1981200"/>
            <a:ext cx="7315200" cy="3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1. Data-Driven Decision Making: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Schools can utilize this analysis to optimize resource allocation, improve student performance, and design targeted interventions.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2. Financial Insights for Policy Makers: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The correlation between family income and school fees highlights the need for structured financial aid programs.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Suggestions for Improvement in students</a:t>
            </a:r>
            <a:endParaRPr sz="3000"/>
          </a:p>
        </p:txBody>
      </p:sp>
      <p:sp>
        <p:nvSpPr>
          <p:cNvPr id="188" name="Google Shape;188;p24"/>
          <p:cNvSpPr txBox="1"/>
          <p:nvPr/>
        </p:nvSpPr>
        <p:spPr>
          <a:xfrm>
            <a:off x="914400" y="1981200"/>
            <a:ext cx="7315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1. Implementing Need-Based Scholarships: Schools should introduce financial aid programs to support students from lower-income backgrounds.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2. Enhancing Learning Support: Schools should identify students at risk of failure early and provide additional academic resources.</a:t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>
            <p:ph type="title"/>
          </p:nvPr>
        </p:nvSpPr>
        <p:spPr>
          <a:xfrm>
            <a:off x="729450" y="767600"/>
            <a:ext cx="76884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3000"/>
          </a:p>
        </p:txBody>
      </p:sp>
      <p:sp>
        <p:nvSpPr>
          <p:cNvPr id="194" name="Google Shape;194;p25"/>
          <p:cNvSpPr txBox="1"/>
          <p:nvPr/>
        </p:nvSpPr>
        <p:spPr>
          <a:xfrm>
            <a:off x="990600" y="1828800"/>
            <a:ext cx="7315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Key Findings:</a:t>
            </a:r>
            <a:endParaRPr sz="22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A significant percentage of students scored below the passing mark.</a:t>
            </a:r>
            <a:endParaRPr sz="22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Family income does </a:t>
            </a: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little influence on</a:t>
            </a: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the type of school students attend.</a:t>
            </a:r>
            <a:endParaRPr sz="22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 Higher school fees not strongly linked to better academic performance.</a:t>
            </a:r>
            <a:endParaRPr sz="22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