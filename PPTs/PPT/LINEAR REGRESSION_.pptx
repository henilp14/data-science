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aleway"/>
      <p:regular r:id="rId21"/>
      <p:bold r:id="rId22"/>
      <p:italic r:id="rId23"/>
      <p:boldItalic r:id="rId24"/>
    </p:embeddedFont>
    <p:embeddedFont>
      <p:font typeface="Roboto"/>
      <p:regular r:id="rId25"/>
      <p:bold r:id="rId26"/>
      <p:italic r:id="rId27"/>
      <p:boldItalic r:id="rId28"/>
    </p:embeddedFont>
    <p:embeddedFont>
      <p:font typeface="Nunito"/>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81A37A-1F9F-401C-B0B8-42743581B24F}">
  <a:tblStyle styleId="{5381A37A-1F9F-401C-B0B8-42743581B2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5.xml"/><Relationship Id="rId33" Type="http://schemas.openxmlformats.org/officeDocument/2006/relationships/font" Target="fonts/Lato-regular.fntdata"/><Relationship Id="rId10" Type="http://schemas.openxmlformats.org/officeDocument/2006/relationships/slide" Target="slides/slide4.xml"/><Relationship Id="rId32" Type="http://schemas.openxmlformats.org/officeDocument/2006/relationships/font" Target="fonts/Nunito-boldItalic.fntdata"/><Relationship Id="rId13" Type="http://schemas.openxmlformats.org/officeDocument/2006/relationships/slide" Target="slides/slide7.xml"/><Relationship Id="rId35" Type="http://schemas.openxmlformats.org/officeDocument/2006/relationships/font" Target="fonts/Lato-italic.fntdata"/><Relationship Id="rId12" Type="http://schemas.openxmlformats.org/officeDocument/2006/relationships/slide" Target="slides/slide6.xml"/><Relationship Id="rId34" Type="http://schemas.openxmlformats.org/officeDocument/2006/relationships/font" Target="fonts/Lat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La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94e3e42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94e3e42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94e3e421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94e3e421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394e3e421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394e3e421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394e3e421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394e3e421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835cf76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835cf76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31800abf3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31800abf3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1800abf3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1800abf3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9b1d8621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9b1d8621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94e3e421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94e3e421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9b1d8621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9b1d8621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a69d7b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a69d7b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a69d7bf9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3a69d7bf9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3a69d7bf9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3a69d7bf9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i="1" lang="en" sz="2020">
                <a:latin typeface="Raleway"/>
                <a:ea typeface="Raleway"/>
                <a:cs typeface="Raleway"/>
                <a:sym typeface="Raleway"/>
              </a:rPr>
              <a:t>Least Squares Method</a:t>
            </a:r>
            <a:endParaRPr b="1" i="1" sz="2020">
              <a:latin typeface="Raleway"/>
              <a:ea typeface="Raleway"/>
              <a:cs typeface="Raleway"/>
              <a:sym typeface="Raleway"/>
            </a:endParaRPr>
          </a:p>
        </p:txBody>
      </p:sp>
      <p:sp>
        <p:nvSpPr>
          <p:cNvPr id="55" name="Google Shape;55;p13"/>
          <p:cNvSpPr txBox="1"/>
          <p:nvPr>
            <p:ph idx="1" type="body"/>
          </p:nvPr>
        </p:nvSpPr>
        <p:spPr>
          <a:xfrm>
            <a:off x="255650" y="1727100"/>
            <a:ext cx="4260300" cy="201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50">
                <a:solidFill>
                  <a:schemeClr val="dk1"/>
                </a:solidFill>
                <a:latin typeface="Nunito"/>
                <a:ea typeface="Nunito"/>
                <a:cs typeface="Nunito"/>
                <a:sym typeface="Nunito"/>
              </a:rPr>
              <a:t>Least Squares method is a statistical technique used to find the equation of best-fitting curve or line to a set of data points by minimizing the sum of the squared differences between the observed values and the values predicted by the model.</a:t>
            </a:r>
            <a:endParaRPr sz="1350">
              <a:solidFill>
                <a:schemeClr val="dk1"/>
              </a:solidFill>
              <a:latin typeface="Nunito"/>
              <a:ea typeface="Nunito"/>
              <a:cs typeface="Nunito"/>
              <a:sym typeface="Nunito"/>
            </a:endParaRPr>
          </a:p>
          <a:p>
            <a:pPr indent="0" lvl="0" marL="0" rtl="0" algn="l">
              <a:spcBef>
                <a:spcPts val="800"/>
              </a:spcBef>
              <a:spcAft>
                <a:spcPts val="0"/>
              </a:spcAft>
              <a:buNone/>
            </a:pPr>
            <a:r>
              <a:rPr lang="en" sz="1100">
                <a:solidFill>
                  <a:schemeClr val="dk1"/>
                </a:solidFill>
              </a:rPr>
              <a:t>The</a:t>
            </a:r>
            <a:r>
              <a:rPr lang="en" sz="1100">
                <a:solidFill>
                  <a:schemeClr val="dk1"/>
                </a:solidFill>
              </a:rPr>
              <a:t> Best fit formula </a:t>
            </a:r>
            <a:endParaRPr sz="1200">
              <a:solidFill>
                <a:srgbClr val="444444"/>
              </a:solidFill>
              <a:highlight>
                <a:srgbClr val="FFFFFF"/>
              </a:highlight>
            </a:endParaRPr>
          </a:p>
          <a:p>
            <a:pPr indent="0" lvl="0" marL="0" rtl="0" algn="l">
              <a:spcBef>
                <a:spcPts val="0"/>
              </a:spcBef>
              <a:spcAft>
                <a:spcPts val="0"/>
              </a:spcAft>
              <a:buNone/>
            </a:pPr>
            <a:r>
              <a:rPr lang="en" sz="1200">
                <a:solidFill>
                  <a:srgbClr val="444444"/>
                </a:solidFill>
                <a:highlight>
                  <a:srgbClr val="FFFFFF"/>
                </a:highlight>
              </a:rPr>
              <a:t>y = mx + b</a:t>
            </a:r>
            <a:endParaRPr/>
          </a:p>
        </p:txBody>
      </p:sp>
      <p:pic>
        <p:nvPicPr>
          <p:cNvPr id="56" name="Google Shape;56;p13"/>
          <p:cNvPicPr preferRelativeResize="0"/>
          <p:nvPr/>
        </p:nvPicPr>
        <p:blipFill rotWithShape="1">
          <a:blip r:embed="rId3">
            <a:alphaModFix/>
          </a:blip>
          <a:srcRect b="-3220" l="11979" r="0" t="0"/>
          <a:stretch/>
        </p:blipFill>
        <p:spPr>
          <a:xfrm>
            <a:off x="4724400" y="1152475"/>
            <a:ext cx="4105500" cy="31603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4105800" y="1217752"/>
            <a:ext cx="4875249" cy="3051801"/>
          </a:xfrm>
          <a:prstGeom prst="rect">
            <a:avLst/>
          </a:prstGeom>
          <a:noFill/>
          <a:ln>
            <a:noFill/>
          </a:ln>
        </p:spPr>
      </p:pic>
      <p:sp>
        <p:nvSpPr>
          <p:cNvPr id="62" name="Google Shape;62;p14"/>
          <p:cNvSpPr txBox="1"/>
          <p:nvPr/>
        </p:nvSpPr>
        <p:spPr>
          <a:xfrm>
            <a:off x="666900" y="255700"/>
            <a:ext cx="6998400" cy="5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dk1"/>
                </a:solidFill>
                <a:latin typeface="Raleway"/>
                <a:ea typeface="Raleway"/>
                <a:cs typeface="Raleway"/>
                <a:sym typeface="Raleway"/>
              </a:rPr>
              <a:t>Linear Regression in Machine Learning</a:t>
            </a:r>
            <a:endParaRPr b="1" i="1" sz="2000">
              <a:solidFill>
                <a:schemeClr val="dk1"/>
              </a:solidFill>
              <a:latin typeface="Raleway"/>
              <a:ea typeface="Raleway"/>
              <a:cs typeface="Raleway"/>
              <a:sym typeface="Raleway"/>
            </a:endParaRPr>
          </a:p>
        </p:txBody>
      </p:sp>
      <p:sp>
        <p:nvSpPr>
          <p:cNvPr id="63" name="Google Shape;63;p14"/>
          <p:cNvSpPr txBox="1"/>
          <p:nvPr/>
        </p:nvSpPr>
        <p:spPr>
          <a:xfrm>
            <a:off x="173825" y="1964975"/>
            <a:ext cx="4082700" cy="1296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chemeClr val="lt1"/>
                </a:highlight>
                <a:latin typeface="Nunito"/>
                <a:ea typeface="Nunito"/>
                <a:cs typeface="Nunito"/>
                <a:sym typeface="Nunito"/>
              </a:rPr>
              <a:t>Linear regression is a statistical method used to model the relationship between a dependent variable and one or more independent variables. It provides valuable insights for prediction and data analysis. </a:t>
            </a:r>
            <a:endParaRPr>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en" sz="2000">
                <a:highlight>
                  <a:schemeClr val="lt1"/>
                </a:highlight>
                <a:latin typeface="Raleway"/>
                <a:ea typeface="Raleway"/>
                <a:cs typeface="Raleway"/>
                <a:sym typeface="Raleway"/>
              </a:rPr>
              <a:t>What is the best Fit Line?</a:t>
            </a:r>
            <a:endParaRPr b="1" i="1" sz="2000">
              <a:highlight>
                <a:schemeClr val="lt1"/>
              </a:highlight>
              <a:latin typeface="Raleway"/>
              <a:ea typeface="Raleway"/>
              <a:cs typeface="Raleway"/>
              <a:sym typeface="Raleway"/>
            </a:endParaRPr>
          </a:p>
          <a:p>
            <a:pPr indent="0" lvl="0" marL="0" rtl="0" algn="l">
              <a:spcBef>
                <a:spcPts val="0"/>
              </a:spcBef>
              <a:spcAft>
                <a:spcPts val="0"/>
              </a:spcAft>
              <a:buNone/>
            </a:pPr>
            <a:r>
              <a:t/>
            </a:r>
            <a:endParaRPr b="1" i="1" sz="2000">
              <a:latin typeface="Raleway"/>
              <a:ea typeface="Raleway"/>
              <a:cs typeface="Raleway"/>
              <a:sym typeface="Raleway"/>
            </a:endParaRPr>
          </a:p>
        </p:txBody>
      </p:sp>
      <p:sp>
        <p:nvSpPr>
          <p:cNvPr id="69" name="Google Shape;69;p15"/>
          <p:cNvSpPr txBox="1"/>
          <p:nvPr>
            <p:ph idx="1" type="body"/>
          </p:nvPr>
        </p:nvSpPr>
        <p:spPr>
          <a:xfrm>
            <a:off x="311700" y="1152475"/>
            <a:ext cx="3321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dk1"/>
                </a:solidFill>
                <a:highlight>
                  <a:schemeClr val="lt1"/>
                </a:highlight>
              </a:rPr>
              <a:t>The best Fit Line equation provides a straight line that represents the relationship between the dependent and independent variables. </a:t>
            </a:r>
            <a:endParaRPr sz="1200">
              <a:solidFill>
                <a:schemeClr val="dk1"/>
              </a:solidFill>
              <a:highlight>
                <a:schemeClr val="lt1"/>
              </a:highlight>
            </a:endParaRPr>
          </a:p>
          <a:p>
            <a:pPr indent="0" lvl="0" marL="0" rtl="0" algn="l">
              <a:spcBef>
                <a:spcPts val="1200"/>
              </a:spcBef>
              <a:spcAft>
                <a:spcPts val="0"/>
              </a:spcAft>
              <a:buNone/>
            </a:pPr>
            <a:r>
              <a:rPr lang="en" sz="1200">
                <a:solidFill>
                  <a:schemeClr val="dk1"/>
                </a:solidFill>
                <a:highlight>
                  <a:schemeClr val="lt1"/>
                </a:highlight>
              </a:rPr>
              <a:t>The slope of the line indicates how much the dependent variable changes for a unit change in the independent variable(s).</a:t>
            </a:r>
            <a:endParaRPr sz="1200">
              <a:solidFill>
                <a:schemeClr val="dk1"/>
              </a:solidFill>
              <a:highlight>
                <a:schemeClr val="lt1"/>
              </a:highlight>
            </a:endParaRPr>
          </a:p>
          <a:p>
            <a:pPr indent="0" lvl="0" marL="0" rtl="0" algn="l">
              <a:spcBef>
                <a:spcPts val="1200"/>
              </a:spcBef>
              <a:spcAft>
                <a:spcPts val="0"/>
              </a:spcAft>
              <a:buNone/>
            </a:pPr>
            <a:r>
              <a:rPr lang="en" sz="1200">
                <a:solidFill>
                  <a:schemeClr val="dk1"/>
                </a:solidFill>
              </a:rPr>
              <a:t> The intercept provides a baseline for the dependent variable when the independent variables are at their minimum values (often zero).</a:t>
            </a:r>
            <a:endParaRPr sz="1200">
              <a:solidFill>
                <a:schemeClr val="dk1"/>
              </a:solidFill>
            </a:endParaRPr>
          </a:p>
          <a:p>
            <a:pPr indent="0" lvl="0" marL="0" rtl="0" algn="l">
              <a:lnSpc>
                <a:spcPct val="100000"/>
              </a:lnSpc>
              <a:spcBef>
                <a:spcPts val="1200"/>
              </a:spcBef>
              <a:spcAft>
                <a:spcPts val="0"/>
              </a:spcAft>
              <a:buNone/>
            </a:pPr>
            <a:r>
              <a:rPr lang="en" sz="1200">
                <a:solidFill>
                  <a:srgbClr val="111111"/>
                </a:solidFill>
                <a:highlight>
                  <a:schemeClr val="lt1"/>
                </a:highlight>
              </a:rPr>
              <a:t>Random error is a </a:t>
            </a:r>
            <a:r>
              <a:rPr lang="en" sz="1200">
                <a:solidFill>
                  <a:srgbClr val="111111"/>
                </a:solidFill>
              </a:rPr>
              <a:t>chance difference between the observed and true values </a:t>
            </a:r>
            <a:endParaRPr sz="1200"/>
          </a:p>
          <a:p>
            <a:pPr indent="0" lvl="0" marL="0" rtl="0" algn="l">
              <a:spcBef>
                <a:spcPts val="0"/>
              </a:spcBef>
              <a:spcAft>
                <a:spcPts val="1200"/>
              </a:spcAft>
              <a:buClr>
                <a:schemeClr val="dk1"/>
              </a:buClr>
              <a:buSzPts val="1100"/>
              <a:buFont typeface="Arial"/>
              <a:buNone/>
            </a:pPr>
            <a:r>
              <a:t/>
            </a:r>
            <a:endParaRPr sz="1200">
              <a:solidFill>
                <a:schemeClr val="dk1"/>
              </a:solidFill>
            </a:endParaRPr>
          </a:p>
        </p:txBody>
      </p:sp>
      <p:pic>
        <p:nvPicPr>
          <p:cNvPr id="70" name="Google Shape;70;p15"/>
          <p:cNvPicPr preferRelativeResize="0"/>
          <p:nvPr/>
        </p:nvPicPr>
        <p:blipFill rotWithShape="1">
          <a:blip r:embed="rId3">
            <a:alphaModFix/>
          </a:blip>
          <a:srcRect b="5132" l="2427" r="4201" t="0"/>
          <a:stretch/>
        </p:blipFill>
        <p:spPr>
          <a:xfrm>
            <a:off x="3812500" y="1157538"/>
            <a:ext cx="5096000" cy="2828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i="1" lang="en" sz="2020">
                <a:latin typeface="Raleway"/>
                <a:ea typeface="Raleway"/>
                <a:cs typeface="Raleway"/>
                <a:sym typeface="Raleway"/>
              </a:rPr>
              <a:t>Hypothesis Testing in Linear Regression</a:t>
            </a:r>
            <a:endParaRPr b="1" i="1" sz="2020">
              <a:latin typeface="Raleway"/>
              <a:ea typeface="Raleway"/>
              <a:cs typeface="Raleway"/>
              <a:sym typeface="Raleway"/>
            </a:endParaRPr>
          </a:p>
        </p:txBody>
      </p:sp>
      <p:sp>
        <p:nvSpPr>
          <p:cNvPr id="76" name="Google Shape;76;p16"/>
          <p:cNvSpPr txBox="1"/>
          <p:nvPr>
            <p:ph idx="1" type="body"/>
          </p:nvPr>
        </p:nvSpPr>
        <p:spPr>
          <a:xfrm>
            <a:off x="311700" y="1152475"/>
            <a:ext cx="8520600" cy="3735300"/>
          </a:xfrm>
          <a:prstGeom prst="rect">
            <a:avLst/>
          </a:prstGeom>
        </p:spPr>
        <p:txBody>
          <a:bodyPr anchorCtr="0" anchor="t" bIns="91425" lIns="91425" spcFirstLastPara="1" rIns="91425" wrap="square" tIns="91425">
            <a:noAutofit/>
          </a:bodyPr>
          <a:lstStyle/>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t-Test for Individual Coefficients</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The predictor has no effect.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The predictor has an effect.</a:t>
            </a:r>
            <a:endParaRPr sz="1210">
              <a:solidFill>
                <a:srgbClr val="424242"/>
              </a:solidFill>
              <a:highlight>
                <a:srgbClr val="FAFAFA"/>
              </a:highlight>
              <a:latin typeface="Roboto"/>
              <a:ea typeface="Roboto"/>
              <a:cs typeface="Roboto"/>
              <a:sym typeface="Roboto"/>
            </a:endParaRPr>
          </a:p>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F-Test for Overall Significance</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None of the predictors have an effect.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At least one predictor has an effect.</a:t>
            </a:r>
            <a:endParaRPr sz="1210">
              <a:solidFill>
                <a:srgbClr val="424242"/>
              </a:solidFill>
              <a:highlight>
                <a:srgbClr val="FAFAFA"/>
              </a:highlight>
              <a:latin typeface="Roboto"/>
              <a:ea typeface="Roboto"/>
              <a:cs typeface="Roboto"/>
              <a:sym typeface="Roboto"/>
            </a:endParaRPr>
          </a:p>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Partial F-Test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The simpler model is sufficient.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The more complex model is better.</a:t>
            </a:r>
            <a:endParaRPr sz="1210">
              <a:solidFill>
                <a:srgbClr val="424242"/>
              </a:solidFill>
              <a:highlight>
                <a:srgbClr val="FAFAFA"/>
              </a:highlight>
              <a:latin typeface="Roboto"/>
              <a:ea typeface="Roboto"/>
              <a:cs typeface="Roboto"/>
              <a:sym typeface="Roboto"/>
            </a:endParaRPr>
          </a:p>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Wald Test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The predictor(s) being tested have no effect.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The predictor(s) being tested have an effect.</a:t>
            </a:r>
            <a:endParaRPr sz="1210">
              <a:solidFill>
                <a:srgbClr val="424242"/>
              </a:solidFill>
              <a:highlight>
                <a:srgbClr val="FAFAFA"/>
              </a:highlight>
              <a:latin typeface="Roboto"/>
              <a:ea typeface="Roboto"/>
              <a:cs typeface="Roboto"/>
              <a:sym typeface="Roboto"/>
            </a:endParaRPr>
          </a:p>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Likelihood Ratio Test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The simpler model is sufficient.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The more complex model is better.</a:t>
            </a:r>
            <a:endParaRPr sz="1210">
              <a:solidFill>
                <a:srgbClr val="424242"/>
              </a:solidFill>
              <a:highlight>
                <a:srgbClr val="FAFAFA"/>
              </a:highlight>
              <a:latin typeface="Roboto"/>
              <a:ea typeface="Roboto"/>
              <a:cs typeface="Roboto"/>
              <a:sym typeface="Roboto"/>
            </a:endParaRPr>
          </a:p>
          <a:p>
            <a:pPr indent="-305435" lvl="0" marL="457200" rtl="0" algn="l">
              <a:lnSpc>
                <a:spcPct val="95000"/>
              </a:lnSpc>
              <a:spcBef>
                <a:spcPts val="0"/>
              </a:spcBef>
              <a:spcAft>
                <a:spcPts val="0"/>
              </a:spcAft>
              <a:buClr>
                <a:srgbClr val="424242"/>
              </a:buClr>
              <a:buSzPts val="1210"/>
              <a:buFont typeface="Roboto"/>
              <a:buAutoNum type="arabicPeriod"/>
            </a:pPr>
            <a:r>
              <a:rPr lang="en" sz="1210">
                <a:solidFill>
                  <a:srgbClr val="424242"/>
                </a:solidFill>
                <a:highlight>
                  <a:srgbClr val="FAFAFA"/>
                </a:highlight>
                <a:latin typeface="Roboto"/>
                <a:ea typeface="Roboto"/>
                <a:cs typeface="Roboto"/>
                <a:sym typeface="Roboto"/>
              </a:rPr>
              <a:t>Durbin-Watson Test</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Null Hypothesis: There is no autocorrelation.</a:t>
            </a:r>
            <a:endParaRPr sz="1210">
              <a:solidFill>
                <a:srgbClr val="424242"/>
              </a:solidFill>
              <a:highlight>
                <a:srgbClr val="FAFAFA"/>
              </a:highlight>
              <a:latin typeface="Roboto"/>
              <a:ea typeface="Roboto"/>
              <a:cs typeface="Roboto"/>
              <a:sym typeface="Roboto"/>
            </a:endParaRPr>
          </a:p>
          <a:p>
            <a:pPr indent="-305435" lvl="1" marL="914400" rtl="0" algn="l">
              <a:lnSpc>
                <a:spcPct val="95000"/>
              </a:lnSpc>
              <a:spcBef>
                <a:spcPts val="0"/>
              </a:spcBef>
              <a:spcAft>
                <a:spcPts val="0"/>
              </a:spcAft>
              <a:buClr>
                <a:srgbClr val="424242"/>
              </a:buClr>
              <a:buSzPts val="1210"/>
              <a:buFont typeface="Roboto"/>
              <a:buChar char="●"/>
            </a:pPr>
            <a:r>
              <a:rPr lang="en" sz="1210">
                <a:solidFill>
                  <a:srgbClr val="424242"/>
                </a:solidFill>
                <a:highlight>
                  <a:srgbClr val="FAFAFA"/>
                </a:highlight>
                <a:latin typeface="Roboto"/>
                <a:ea typeface="Roboto"/>
                <a:cs typeface="Roboto"/>
                <a:sym typeface="Roboto"/>
              </a:rPr>
              <a:t>Alternative Hypothesis: There is autocorrelation.</a:t>
            </a:r>
            <a:endParaRPr sz="1210">
              <a:solidFill>
                <a:srgbClr val="424242"/>
              </a:solidFill>
              <a:highlight>
                <a:srgbClr val="FAFAFA"/>
              </a:highlight>
              <a:latin typeface="Roboto"/>
              <a:ea typeface="Roboto"/>
              <a:cs typeface="Roboto"/>
              <a:sym typeface="Roboto"/>
            </a:endParaRPr>
          </a:p>
          <a:p>
            <a:pPr indent="0" lvl="0" marL="0" rtl="0" algn="l">
              <a:lnSpc>
                <a:spcPct val="95000"/>
              </a:lnSpc>
              <a:spcBef>
                <a:spcPts val="600"/>
              </a:spcBef>
              <a:spcAft>
                <a:spcPts val="1200"/>
              </a:spcAft>
              <a:buSzPts val="1018"/>
              <a:buNone/>
            </a:pPr>
            <a:r>
              <a:t/>
            </a:r>
            <a:endParaRPr sz="166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p:nvPr/>
        </p:nvSpPr>
        <p:spPr>
          <a:xfrm>
            <a:off x="112325" y="2362434"/>
            <a:ext cx="1273200" cy="553800"/>
          </a:xfrm>
          <a:prstGeom prst="homePlate">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82" name="Google Shape;82;p17"/>
          <p:cNvSpPr txBox="1"/>
          <p:nvPr/>
        </p:nvSpPr>
        <p:spPr>
          <a:xfrm>
            <a:off x="215964" y="2597337"/>
            <a:ext cx="1102200" cy="3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600"/>
              <a:t>Understanding the Problem and Data Collection</a:t>
            </a:r>
            <a:endParaRPr sz="600">
              <a:solidFill>
                <a:srgbClr val="FFFFFF"/>
              </a:solidFill>
              <a:latin typeface="Roboto"/>
              <a:ea typeface="Roboto"/>
              <a:cs typeface="Roboto"/>
              <a:sym typeface="Roboto"/>
            </a:endParaRPr>
          </a:p>
        </p:txBody>
      </p:sp>
      <p:grpSp>
        <p:nvGrpSpPr>
          <p:cNvPr id="83" name="Google Shape;83;p17"/>
          <p:cNvGrpSpPr/>
          <p:nvPr/>
        </p:nvGrpSpPr>
        <p:grpSpPr>
          <a:xfrm>
            <a:off x="501270" y="1925326"/>
            <a:ext cx="135272" cy="440790"/>
            <a:chOff x="912820" y="1610215"/>
            <a:chExt cx="198900" cy="593656"/>
          </a:xfrm>
        </p:grpSpPr>
        <p:cxnSp>
          <p:nvCxnSpPr>
            <p:cNvPr id="84" name="Google Shape;84;p17"/>
            <p:cNvCxnSpPr/>
            <p:nvPr/>
          </p:nvCxnSpPr>
          <p:spPr>
            <a:xfrm>
              <a:off x="1012282" y="1649171"/>
              <a:ext cx="0" cy="554700"/>
            </a:xfrm>
            <a:prstGeom prst="straightConnector1">
              <a:avLst/>
            </a:prstGeom>
            <a:noFill/>
            <a:ln cap="flat" cmpd="sng" w="9525">
              <a:solidFill>
                <a:srgbClr val="424242"/>
              </a:solidFill>
              <a:prstDash val="solid"/>
              <a:round/>
              <a:headEnd len="sm" w="sm" type="none"/>
              <a:tailEnd len="sm" w="sm" type="none"/>
            </a:ln>
          </p:spPr>
        </p:cxnSp>
        <p:sp>
          <p:nvSpPr>
            <p:cNvPr id="85" name="Google Shape;85;p17"/>
            <p:cNvSpPr/>
            <p:nvPr/>
          </p:nvSpPr>
          <p:spPr>
            <a:xfrm>
              <a:off x="912820" y="1610215"/>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17"/>
          <p:cNvSpPr/>
          <p:nvPr/>
        </p:nvSpPr>
        <p:spPr>
          <a:xfrm>
            <a:off x="1116212"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87" name="Google Shape;87;p17"/>
          <p:cNvSpPr txBox="1"/>
          <p:nvPr/>
        </p:nvSpPr>
        <p:spPr>
          <a:xfrm>
            <a:off x="1430182" y="2597337"/>
            <a:ext cx="894300" cy="3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600"/>
              <a:t>Data Exploration and Preprocessing (EDA)</a:t>
            </a:r>
            <a:endParaRPr sz="600">
              <a:solidFill>
                <a:srgbClr val="FFFFFF"/>
              </a:solidFill>
              <a:latin typeface="Roboto"/>
              <a:ea typeface="Roboto"/>
              <a:cs typeface="Roboto"/>
              <a:sym typeface="Roboto"/>
            </a:endParaRPr>
          </a:p>
        </p:txBody>
      </p:sp>
      <p:grpSp>
        <p:nvGrpSpPr>
          <p:cNvPr id="88" name="Google Shape;88;p17"/>
          <p:cNvGrpSpPr/>
          <p:nvPr/>
        </p:nvGrpSpPr>
        <p:grpSpPr>
          <a:xfrm>
            <a:off x="1421760" y="2911918"/>
            <a:ext cx="135272" cy="440789"/>
            <a:chOff x="2266282" y="2938958"/>
            <a:chExt cx="198900" cy="593656"/>
          </a:xfrm>
        </p:grpSpPr>
        <p:cxnSp>
          <p:nvCxnSpPr>
            <p:cNvPr id="89" name="Google Shape;89;p17"/>
            <p:cNvCxnSpPr/>
            <p:nvPr/>
          </p:nvCxnSpPr>
          <p:spPr>
            <a:xfrm rot="10800000">
              <a:off x="2365745" y="2938958"/>
              <a:ext cx="0" cy="554700"/>
            </a:xfrm>
            <a:prstGeom prst="straightConnector1">
              <a:avLst/>
            </a:prstGeom>
            <a:noFill/>
            <a:ln cap="flat" cmpd="sng" w="9525">
              <a:solidFill>
                <a:srgbClr val="424242"/>
              </a:solidFill>
              <a:prstDash val="solid"/>
              <a:round/>
              <a:headEnd len="sm" w="sm" type="none"/>
              <a:tailEnd len="sm" w="sm" type="none"/>
            </a:ln>
          </p:spPr>
        </p:cxnSp>
        <p:sp>
          <p:nvSpPr>
            <p:cNvPr id="90" name="Google Shape;90;p17"/>
            <p:cNvSpPr/>
            <p:nvPr/>
          </p:nvSpPr>
          <p:spPr>
            <a:xfrm flipH="1" rot="10800000">
              <a:off x="2266282" y="3333714"/>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7"/>
          <p:cNvSpPr txBox="1"/>
          <p:nvPr/>
        </p:nvSpPr>
        <p:spPr>
          <a:xfrm>
            <a:off x="1089465" y="3350012"/>
            <a:ext cx="1525500" cy="992100"/>
          </a:xfrm>
          <a:prstGeom prst="rect">
            <a:avLst/>
          </a:prstGeom>
          <a:noFill/>
          <a:ln>
            <a:noFill/>
          </a:ln>
        </p:spPr>
        <p:txBody>
          <a:bodyPr anchorCtr="0" anchor="t" bIns="91425" lIns="91425" spcFirstLastPara="1" rIns="91425" wrap="square" tIns="91425">
            <a:noAutofit/>
          </a:bodyPr>
          <a:lstStyle/>
          <a:p>
            <a:pPr indent="0" lvl="0" marL="0" rtl="0" algn="l">
              <a:spcBef>
                <a:spcPts val="100"/>
              </a:spcBef>
              <a:spcAft>
                <a:spcPts val="0"/>
              </a:spcAft>
              <a:buNone/>
            </a:pPr>
            <a:r>
              <a:rPr lang="en" sz="1000"/>
              <a:t>Data Loading</a:t>
            </a:r>
            <a:endParaRPr sz="1000"/>
          </a:p>
          <a:p>
            <a:pPr indent="0" lvl="0" marL="0" rtl="0" algn="l">
              <a:spcBef>
                <a:spcPts val="100"/>
              </a:spcBef>
              <a:spcAft>
                <a:spcPts val="0"/>
              </a:spcAft>
              <a:buNone/>
            </a:pPr>
            <a:r>
              <a:rPr lang="en" sz="1000"/>
              <a:t>Initial Data Exploration</a:t>
            </a:r>
            <a:endParaRPr sz="1000"/>
          </a:p>
          <a:p>
            <a:pPr indent="0" lvl="0" marL="0" rtl="0" algn="l">
              <a:spcBef>
                <a:spcPts val="100"/>
              </a:spcBef>
              <a:spcAft>
                <a:spcPts val="0"/>
              </a:spcAft>
              <a:buNone/>
            </a:pPr>
            <a:r>
              <a:rPr lang="en" sz="1000"/>
              <a:t>Handle Missing Values</a:t>
            </a:r>
            <a:endParaRPr sz="1000"/>
          </a:p>
          <a:p>
            <a:pPr indent="0" lvl="0" marL="0" rtl="0" algn="l">
              <a:spcBef>
                <a:spcPts val="100"/>
              </a:spcBef>
              <a:spcAft>
                <a:spcPts val="0"/>
              </a:spcAft>
              <a:buNone/>
            </a:pPr>
            <a:r>
              <a:rPr lang="en" sz="1000"/>
              <a:t>Detect and Handle Outliers</a:t>
            </a:r>
            <a:endParaRPr sz="1000"/>
          </a:p>
          <a:p>
            <a:pPr indent="0" lvl="0" marL="0" rtl="0" algn="l">
              <a:spcBef>
                <a:spcPts val="100"/>
              </a:spcBef>
              <a:spcAft>
                <a:spcPts val="0"/>
              </a:spcAft>
              <a:buNone/>
            </a:pPr>
            <a:r>
              <a:rPr lang="en" sz="1000"/>
              <a:t>Feature Engineering</a:t>
            </a:r>
            <a:endParaRPr sz="1000"/>
          </a:p>
          <a:p>
            <a:pPr indent="0" lvl="0" marL="0" rtl="0" algn="l">
              <a:spcBef>
                <a:spcPts val="100"/>
              </a:spcBef>
              <a:spcAft>
                <a:spcPts val="0"/>
              </a:spcAft>
              <a:buNone/>
            </a:pPr>
            <a:r>
              <a:rPr lang="en" sz="1000"/>
              <a:t>Hypothesis Testing</a:t>
            </a:r>
            <a:endParaRPr sz="1000"/>
          </a:p>
          <a:p>
            <a:pPr indent="0" lvl="0" marL="0" rtl="0" algn="l">
              <a:spcBef>
                <a:spcPts val="100"/>
              </a:spcBef>
              <a:spcAft>
                <a:spcPts val="100"/>
              </a:spcAft>
              <a:buNone/>
            </a:pPr>
            <a:r>
              <a:rPr lang="en" sz="1000"/>
              <a:t>Correlation Analysis</a:t>
            </a:r>
            <a:endParaRPr sz="1600">
              <a:solidFill>
                <a:srgbClr val="737373"/>
              </a:solidFill>
              <a:latin typeface="Roboto"/>
              <a:ea typeface="Roboto"/>
              <a:cs typeface="Roboto"/>
              <a:sym typeface="Roboto"/>
            </a:endParaRPr>
          </a:p>
        </p:txBody>
      </p:sp>
      <p:sp>
        <p:nvSpPr>
          <p:cNvPr id="92" name="Google Shape;92;p17"/>
          <p:cNvSpPr/>
          <p:nvPr/>
        </p:nvSpPr>
        <p:spPr>
          <a:xfrm>
            <a:off x="2241697"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3" name="Google Shape;93;p17"/>
          <p:cNvSpPr txBox="1"/>
          <p:nvPr/>
        </p:nvSpPr>
        <p:spPr>
          <a:xfrm>
            <a:off x="2698898" y="2464561"/>
            <a:ext cx="894300" cy="3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800"/>
              <a:t>Data</a:t>
            </a:r>
            <a:endParaRPr b="1" sz="800"/>
          </a:p>
          <a:p>
            <a:pPr indent="0" lvl="0" marL="0" rtl="0" algn="l">
              <a:lnSpc>
                <a:spcPct val="115000"/>
              </a:lnSpc>
              <a:spcBef>
                <a:spcPts val="0"/>
              </a:spcBef>
              <a:spcAft>
                <a:spcPts val="0"/>
              </a:spcAft>
              <a:buNone/>
            </a:pPr>
            <a:r>
              <a:rPr b="1" lang="en" sz="800"/>
              <a:t>Splitting</a:t>
            </a:r>
            <a:endParaRPr sz="1500">
              <a:solidFill>
                <a:srgbClr val="FFFFFF"/>
              </a:solidFill>
              <a:latin typeface="Roboto"/>
              <a:ea typeface="Roboto"/>
              <a:cs typeface="Roboto"/>
              <a:sym typeface="Roboto"/>
            </a:endParaRPr>
          </a:p>
        </p:txBody>
      </p:sp>
      <p:sp>
        <p:nvSpPr>
          <p:cNvPr id="94" name="Google Shape;94;p17"/>
          <p:cNvSpPr/>
          <p:nvPr/>
        </p:nvSpPr>
        <p:spPr>
          <a:xfrm>
            <a:off x="3367183"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5" name="Google Shape;95;p17"/>
          <p:cNvSpPr txBox="1"/>
          <p:nvPr/>
        </p:nvSpPr>
        <p:spPr>
          <a:xfrm>
            <a:off x="3820321" y="2634289"/>
            <a:ext cx="894300" cy="174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800"/>
              <a:t>Model Building</a:t>
            </a:r>
            <a:endParaRPr sz="1500">
              <a:solidFill>
                <a:srgbClr val="FFFFFF"/>
              </a:solidFill>
              <a:latin typeface="Roboto"/>
              <a:ea typeface="Roboto"/>
              <a:cs typeface="Roboto"/>
              <a:sym typeface="Roboto"/>
            </a:endParaRPr>
          </a:p>
        </p:txBody>
      </p:sp>
      <p:grpSp>
        <p:nvGrpSpPr>
          <p:cNvPr id="96" name="Google Shape;96;p17"/>
          <p:cNvGrpSpPr/>
          <p:nvPr/>
        </p:nvGrpSpPr>
        <p:grpSpPr>
          <a:xfrm>
            <a:off x="6099292" y="2911918"/>
            <a:ext cx="135272" cy="440789"/>
            <a:chOff x="9143995" y="2938958"/>
            <a:chExt cx="198900" cy="593656"/>
          </a:xfrm>
        </p:grpSpPr>
        <p:cxnSp>
          <p:nvCxnSpPr>
            <p:cNvPr id="97" name="Google Shape;97;p17"/>
            <p:cNvCxnSpPr/>
            <p:nvPr/>
          </p:nvCxnSpPr>
          <p:spPr>
            <a:xfrm rot="10800000">
              <a:off x="9243457" y="2938958"/>
              <a:ext cx="0" cy="554700"/>
            </a:xfrm>
            <a:prstGeom prst="straightConnector1">
              <a:avLst/>
            </a:prstGeom>
            <a:noFill/>
            <a:ln cap="flat" cmpd="sng" w="9525">
              <a:solidFill>
                <a:srgbClr val="424242"/>
              </a:solidFill>
              <a:prstDash val="solid"/>
              <a:round/>
              <a:headEnd len="sm" w="sm" type="none"/>
              <a:tailEnd len="sm" w="sm" type="none"/>
            </a:ln>
          </p:spPr>
        </p:cxnSp>
        <p:sp>
          <p:nvSpPr>
            <p:cNvPr id="98" name="Google Shape;98;p17"/>
            <p:cNvSpPr/>
            <p:nvPr/>
          </p:nvSpPr>
          <p:spPr>
            <a:xfrm flipH="1" rot="10800000">
              <a:off x="9143995" y="3333714"/>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17"/>
          <p:cNvSpPr txBox="1"/>
          <p:nvPr/>
        </p:nvSpPr>
        <p:spPr>
          <a:xfrm>
            <a:off x="4878650" y="3405000"/>
            <a:ext cx="4189200" cy="158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
              </a:spcBef>
              <a:spcAft>
                <a:spcPts val="0"/>
              </a:spcAft>
              <a:buNone/>
            </a:pPr>
            <a:r>
              <a:rPr lang="en" sz="1000"/>
              <a:t>Make Predictions: Use the trained model to predict on test data</a:t>
            </a:r>
            <a:endParaRPr sz="1000"/>
          </a:p>
          <a:p>
            <a:pPr indent="0" lvl="0" marL="0" rtl="0" algn="l">
              <a:lnSpc>
                <a:spcPct val="115000"/>
              </a:lnSpc>
              <a:spcBef>
                <a:spcPts val="100"/>
              </a:spcBef>
              <a:spcAft>
                <a:spcPts val="0"/>
              </a:spcAft>
              <a:buNone/>
            </a:pPr>
            <a:r>
              <a:rPr lang="en" sz="1000"/>
              <a:t>Evaluation Metrics: Calculate performance metrics like:</a:t>
            </a:r>
            <a:endParaRPr sz="1000"/>
          </a:p>
          <a:p>
            <a:pPr indent="-292100" lvl="0" marL="457200" rtl="0" algn="l">
              <a:lnSpc>
                <a:spcPct val="115000"/>
              </a:lnSpc>
              <a:spcBef>
                <a:spcPts val="1200"/>
              </a:spcBef>
              <a:spcAft>
                <a:spcPts val="0"/>
              </a:spcAft>
              <a:buSzPts val="1000"/>
              <a:buChar char="●"/>
            </a:pPr>
            <a:r>
              <a:rPr lang="en" sz="1000"/>
              <a:t>R² (R-squared)</a:t>
            </a:r>
            <a:endParaRPr sz="1000"/>
          </a:p>
          <a:p>
            <a:pPr indent="-292100" lvl="0" marL="457200" rtl="0" algn="l">
              <a:lnSpc>
                <a:spcPct val="115000"/>
              </a:lnSpc>
              <a:spcBef>
                <a:spcPts val="0"/>
              </a:spcBef>
              <a:spcAft>
                <a:spcPts val="0"/>
              </a:spcAft>
              <a:buSzPts val="1000"/>
              <a:buChar char="●"/>
            </a:pPr>
            <a:r>
              <a:rPr lang="en" sz="1000"/>
              <a:t>MAE (Mean Absolute Error)</a:t>
            </a:r>
            <a:endParaRPr sz="1000"/>
          </a:p>
          <a:p>
            <a:pPr indent="-292100" lvl="0" marL="457200" rtl="0" algn="l">
              <a:lnSpc>
                <a:spcPct val="115000"/>
              </a:lnSpc>
              <a:spcBef>
                <a:spcPts val="0"/>
              </a:spcBef>
              <a:spcAft>
                <a:spcPts val="0"/>
              </a:spcAft>
              <a:buSzPts val="1000"/>
              <a:buChar char="●"/>
            </a:pPr>
            <a:r>
              <a:rPr lang="en" sz="1000"/>
              <a:t>MSE (Mean Squared Error)</a:t>
            </a:r>
            <a:endParaRPr sz="1000"/>
          </a:p>
          <a:p>
            <a:pPr indent="-292100" lvl="0" marL="457200" rtl="0" algn="l">
              <a:lnSpc>
                <a:spcPct val="115000"/>
              </a:lnSpc>
              <a:spcBef>
                <a:spcPts val="0"/>
              </a:spcBef>
              <a:spcAft>
                <a:spcPts val="0"/>
              </a:spcAft>
              <a:buSzPts val="1000"/>
              <a:buChar char="●"/>
            </a:pPr>
            <a:r>
              <a:rPr lang="en" sz="1000"/>
              <a:t>RMSE (Root Mean Squared Error)</a:t>
            </a:r>
            <a:endParaRPr sz="1000"/>
          </a:p>
          <a:p>
            <a:pPr indent="-292100" lvl="0" marL="457200" rtl="0" algn="l">
              <a:lnSpc>
                <a:spcPct val="115000"/>
              </a:lnSpc>
              <a:spcBef>
                <a:spcPts val="0"/>
              </a:spcBef>
              <a:spcAft>
                <a:spcPts val="0"/>
              </a:spcAft>
              <a:buSzPts val="1000"/>
              <a:buChar char="●"/>
            </a:pPr>
            <a:r>
              <a:rPr lang="en" sz="1000"/>
              <a:t>Residual Analysis</a:t>
            </a:r>
            <a:endParaRPr sz="1000"/>
          </a:p>
          <a:p>
            <a:pPr indent="0" lvl="0" marL="0" rtl="0" algn="l">
              <a:lnSpc>
                <a:spcPct val="115000"/>
              </a:lnSpc>
              <a:spcBef>
                <a:spcPts val="1200"/>
              </a:spcBef>
              <a:spcAft>
                <a:spcPts val="0"/>
              </a:spcAft>
              <a:buNone/>
            </a:pPr>
            <a:r>
              <a:t/>
            </a:r>
            <a:endParaRPr sz="1000"/>
          </a:p>
          <a:p>
            <a:pPr indent="0" lvl="0" marL="0" rtl="0" algn="l">
              <a:lnSpc>
                <a:spcPct val="115000"/>
              </a:lnSpc>
              <a:spcBef>
                <a:spcPts val="100"/>
              </a:spcBef>
              <a:spcAft>
                <a:spcPts val="100"/>
              </a:spcAft>
              <a:buNone/>
            </a:pPr>
            <a:r>
              <a:t/>
            </a:r>
            <a:endParaRPr sz="1000">
              <a:solidFill>
                <a:srgbClr val="737373"/>
              </a:solidFill>
            </a:endParaRPr>
          </a:p>
        </p:txBody>
      </p:sp>
      <p:sp>
        <p:nvSpPr>
          <p:cNvPr id="100" name="Google Shape;100;p17"/>
          <p:cNvSpPr/>
          <p:nvPr/>
        </p:nvSpPr>
        <p:spPr>
          <a:xfrm>
            <a:off x="4492669"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01" name="Google Shape;101;p17"/>
          <p:cNvSpPr txBox="1"/>
          <p:nvPr/>
        </p:nvSpPr>
        <p:spPr>
          <a:xfrm>
            <a:off x="4820536" y="2521137"/>
            <a:ext cx="894300" cy="34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600"/>
              <a:t>Hypothesis Testing in Linear Regression</a:t>
            </a:r>
            <a:endParaRPr sz="1500">
              <a:solidFill>
                <a:srgbClr val="FFFFFF"/>
              </a:solidFill>
              <a:latin typeface="Roboto"/>
              <a:ea typeface="Roboto"/>
              <a:cs typeface="Roboto"/>
              <a:sym typeface="Roboto"/>
            </a:endParaRPr>
          </a:p>
        </p:txBody>
      </p:sp>
      <p:grpSp>
        <p:nvGrpSpPr>
          <p:cNvPr id="102" name="Google Shape;102;p17"/>
          <p:cNvGrpSpPr/>
          <p:nvPr/>
        </p:nvGrpSpPr>
        <p:grpSpPr>
          <a:xfrm>
            <a:off x="5096697" y="1925326"/>
            <a:ext cx="135272" cy="440790"/>
            <a:chOff x="7669807" y="1610215"/>
            <a:chExt cx="198900" cy="593656"/>
          </a:xfrm>
        </p:grpSpPr>
        <p:cxnSp>
          <p:nvCxnSpPr>
            <p:cNvPr id="103" name="Google Shape;103;p17"/>
            <p:cNvCxnSpPr/>
            <p:nvPr/>
          </p:nvCxnSpPr>
          <p:spPr>
            <a:xfrm>
              <a:off x="7769270" y="1649171"/>
              <a:ext cx="0" cy="554700"/>
            </a:xfrm>
            <a:prstGeom prst="straightConnector1">
              <a:avLst/>
            </a:prstGeom>
            <a:noFill/>
            <a:ln cap="flat" cmpd="sng" w="9525">
              <a:solidFill>
                <a:srgbClr val="424242"/>
              </a:solidFill>
              <a:prstDash val="solid"/>
              <a:round/>
              <a:headEnd len="sm" w="sm" type="none"/>
              <a:tailEnd len="sm" w="sm" type="none"/>
            </a:ln>
          </p:spPr>
        </p:cxnSp>
        <p:sp>
          <p:nvSpPr>
            <p:cNvPr id="104" name="Google Shape;104;p17"/>
            <p:cNvSpPr/>
            <p:nvPr/>
          </p:nvSpPr>
          <p:spPr>
            <a:xfrm>
              <a:off x="7669807" y="1610215"/>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7"/>
          <p:cNvSpPr txBox="1"/>
          <p:nvPr/>
        </p:nvSpPr>
        <p:spPr>
          <a:xfrm>
            <a:off x="3815645" y="-76210"/>
            <a:ext cx="2587200" cy="117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t>Perform Hypothesis Testing on Coefficients: Testing if the features significantly affect the target</a:t>
            </a:r>
            <a:endParaRPr sz="1000"/>
          </a:p>
          <a:p>
            <a:pPr indent="0" lvl="0" marL="0" rtl="0" algn="l">
              <a:lnSpc>
                <a:spcPct val="115000"/>
              </a:lnSpc>
              <a:spcBef>
                <a:spcPts val="1200"/>
              </a:spcBef>
              <a:spcAft>
                <a:spcPts val="0"/>
              </a:spcAft>
              <a:buNone/>
            </a:pPr>
            <a:r>
              <a:rPr lang="en" sz="1000"/>
              <a:t>Null Hypothesis (H₀): Coefficient is zero (no effect)</a:t>
            </a:r>
            <a:endParaRPr sz="1000"/>
          </a:p>
          <a:p>
            <a:pPr indent="0" lvl="0" marL="0" rtl="0" algn="l">
              <a:lnSpc>
                <a:spcPct val="115000"/>
              </a:lnSpc>
              <a:spcBef>
                <a:spcPts val="1200"/>
              </a:spcBef>
              <a:spcAft>
                <a:spcPts val="0"/>
              </a:spcAft>
              <a:buNone/>
            </a:pPr>
            <a:r>
              <a:rPr lang="en" sz="1000"/>
              <a:t>Alternative Hypothesis (H₁): Coefficient is not zero (significant effect)</a:t>
            </a:r>
            <a:endParaRPr sz="1000"/>
          </a:p>
          <a:p>
            <a:pPr indent="0" lvl="0" marL="0" rtl="0" algn="l">
              <a:lnSpc>
                <a:spcPct val="115000"/>
              </a:lnSpc>
              <a:spcBef>
                <a:spcPts val="100"/>
              </a:spcBef>
              <a:spcAft>
                <a:spcPts val="0"/>
              </a:spcAft>
              <a:buNone/>
            </a:pPr>
            <a:r>
              <a:rPr lang="en" sz="1000"/>
              <a:t>Check P-values: Evaluate the significance of each feature</a:t>
            </a:r>
            <a:endParaRPr sz="1000"/>
          </a:p>
          <a:p>
            <a:pPr indent="0" lvl="0" marL="0" rtl="0" algn="l">
              <a:lnSpc>
                <a:spcPct val="115000"/>
              </a:lnSpc>
              <a:spcBef>
                <a:spcPts val="1200"/>
              </a:spcBef>
              <a:spcAft>
                <a:spcPts val="1200"/>
              </a:spcAft>
              <a:buNone/>
            </a:pPr>
            <a:r>
              <a:t/>
            </a:r>
            <a:endParaRPr sz="1000"/>
          </a:p>
        </p:txBody>
      </p:sp>
      <p:sp>
        <p:nvSpPr>
          <p:cNvPr id="106" name="Google Shape;106;p17"/>
          <p:cNvSpPr/>
          <p:nvPr/>
        </p:nvSpPr>
        <p:spPr>
          <a:xfrm>
            <a:off x="5632763"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t" bIns="121875" lIns="121875" spcFirstLastPara="1" rIns="121875" wrap="square" tIns="121875">
            <a:noAutofit/>
          </a:bodyPr>
          <a:lstStyle/>
          <a:p>
            <a:pPr indent="0" lvl="0" marL="0" rtl="0" algn="ctr">
              <a:lnSpc>
                <a:spcPct val="115000"/>
              </a:lnSpc>
              <a:spcBef>
                <a:spcPts val="0"/>
              </a:spcBef>
              <a:spcAft>
                <a:spcPts val="0"/>
              </a:spcAft>
              <a:buNone/>
            </a:pPr>
            <a:r>
              <a:rPr b="1" lang="en" sz="800"/>
              <a:t>Model Evaluation</a:t>
            </a:r>
            <a:endParaRPr sz="1100"/>
          </a:p>
        </p:txBody>
      </p:sp>
      <p:sp>
        <p:nvSpPr>
          <p:cNvPr id="107" name="Google Shape;107;p17"/>
          <p:cNvSpPr/>
          <p:nvPr/>
        </p:nvSpPr>
        <p:spPr>
          <a:xfrm>
            <a:off x="6721034" y="2362434"/>
            <a:ext cx="1395000" cy="553800"/>
          </a:xfrm>
          <a:prstGeom prst="chevron">
            <a:avLst>
              <a:gd fmla="val 50000" name="adj"/>
            </a:avLst>
          </a:prstGeom>
          <a:solidFill>
            <a:srgbClr val="4285F4"/>
          </a:solidFill>
          <a:ln cap="flat" cmpd="sng" w="9525">
            <a:solidFill>
              <a:srgbClr val="FFFFFF"/>
            </a:solidFill>
            <a:prstDash val="solid"/>
            <a:round/>
            <a:headEnd len="sm" w="sm" type="none"/>
            <a:tailEnd len="sm" w="sm" type="none"/>
          </a:ln>
        </p:spPr>
        <p:txBody>
          <a:bodyPr anchorCtr="0" anchor="t" bIns="121875" lIns="121875" spcFirstLastPara="1" rIns="121875" wrap="square" tIns="121875">
            <a:noAutofit/>
          </a:bodyPr>
          <a:lstStyle/>
          <a:p>
            <a:pPr indent="0" lvl="0" marL="0" rtl="0" algn="ctr">
              <a:lnSpc>
                <a:spcPct val="115000"/>
              </a:lnSpc>
              <a:spcBef>
                <a:spcPts val="0"/>
              </a:spcBef>
              <a:spcAft>
                <a:spcPts val="1600"/>
              </a:spcAft>
              <a:buNone/>
            </a:pPr>
            <a:r>
              <a:rPr b="1" lang="en" sz="800"/>
              <a:t>Model Exploration</a:t>
            </a:r>
            <a:endParaRPr sz="1100"/>
          </a:p>
        </p:txBody>
      </p:sp>
      <p:sp>
        <p:nvSpPr>
          <p:cNvPr id="108" name="Google Shape;108;p17"/>
          <p:cNvSpPr txBox="1"/>
          <p:nvPr/>
        </p:nvSpPr>
        <p:spPr>
          <a:xfrm>
            <a:off x="166522" y="867320"/>
            <a:ext cx="1315500" cy="6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
              </a:spcBef>
              <a:spcAft>
                <a:spcPts val="0"/>
              </a:spcAft>
              <a:buNone/>
            </a:pPr>
            <a:r>
              <a:rPr lang="en" sz="1000">
                <a:solidFill>
                  <a:srgbClr val="424242"/>
                </a:solidFill>
              </a:rPr>
              <a:t>Define the Problem</a:t>
            </a:r>
            <a:endParaRPr sz="1000">
              <a:solidFill>
                <a:srgbClr val="424242"/>
              </a:solidFill>
            </a:endParaRPr>
          </a:p>
          <a:p>
            <a:pPr indent="0" lvl="0" marL="0" rtl="0" algn="l">
              <a:lnSpc>
                <a:spcPct val="115000"/>
              </a:lnSpc>
              <a:spcBef>
                <a:spcPts val="100"/>
              </a:spcBef>
              <a:spcAft>
                <a:spcPts val="100"/>
              </a:spcAft>
              <a:buNone/>
            </a:pPr>
            <a:r>
              <a:rPr lang="en" sz="1000">
                <a:solidFill>
                  <a:srgbClr val="424242"/>
                </a:solidFill>
              </a:rPr>
              <a:t>Collect Relevant Data (Dependent and Independent Variables)</a:t>
            </a:r>
            <a:endParaRPr sz="1000">
              <a:solidFill>
                <a:srgbClr val="424242"/>
              </a:solidFill>
            </a:endParaRPr>
          </a:p>
        </p:txBody>
      </p:sp>
      <p:grpSp>
        <p:nvGrpSpPr>
          <p:cNvPr id="109" name="Google Shape;109;p17"/>
          <p:cNvGrpSpPr/>
          <p:nvPr/>
        </p:nvGrpSpPr>
        <p:grpSpPr>
          <a:xfrm>
            <a:off x="2868282" y="1925326"/>
            <a:ext cx="135272" cy="440790"/>
            <a:chOff x="4393207" y="1610215"/>
            <a:chExt cx="198900" cy="593656"/>
          </a:xfrm>
        </p:grpSpPr>
        <p:cxnSp>
          <p:nvCxnSpPr>
            <p:cNvPr id="110" name="Google Shape;110;p17"/>
            <p:cNvCxnSpPr/>
            <p:nvPr/>
          </p:nvCxnSpPr>
          <p:spPr>
            <a:xfrm>
              <a:off x="4492670" y="1649171"/>
              <a:ext cx="0" cy="554700"/>
            </a:xfrm>
            <a:prstGeom prst="straightConnector1">
              <a:avLst/>
            </a:prstGeom>
            <a:noFill/>
            <a:ln cap="flat" cmpd="sng" w="9525">
              <a:solidFill>
                <a:srgbClr val="424242"/>
              </a:solidFill>
              <a:prstDash val="solid"/>
              <a:round/>
              <a:headEnd len="sm" w="sm" type="none"/>
              <a:tailEnd len="sm" w="sm" type="none"/>
            </a:ln>
          </p:spPr>
        </p:cxnSp>
        <p:sp>
          <p:nvSpPr>
            <p:cNvPr id="111" name="Google Shape;111;p17"/>
            <p:cNvSpPr/>
            <p:nvPr/>
          </p:nvSpPr>
          <p:spPr>
            <a:xfrm>
              <a:off x="4393207" y="1610215"/>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17"/>
          <p:cNvGrpSpPr/>
          <p:nvPr/>
        </p:nvGrpSpPr>
        <p:grpSpPr>
          <a:xfrm>
            <a:off x="3961117" y="2911918"/>
            <a:ext cx="135272" cy="440789"/>
            <a:chOff x="6000082" y="2938958"/>
            <a:chExt cx="198900" cy="593656"/>
          </a:xfrm>
        </p:grpSpPr>
        <p:cxnSp>
          <p:nvCxnSpPr>
            <p:cNvPr id="113" name="Google Shape;113;p17"/>
            <p:cNvCxnSpPr/>
            <p:nvPr/>
          </p:nvCxnSpPr>
          <p:spPr>
            <a:xfrm rot="10800000">
              <a:off x="6099545" y="2938958"/>
              <a:ext cx="0" cy="554700"/>
            </a:xfrm>
            <a:prstGeom prst="straightConnector1">
              <a:avLst/>
            </a:prstGeom>
            <a:noFill/>
            <a:ln cap="flat" cmpd="sng" w="9525">
              <a:solidFill>
                <a:srgbClr val="424242"/>
              </a:solidFill>
              <a:prstDash val="solid"/>
              <a:round/>
              <a:headEnd len="sm" w="sm" type="none"/>
              <a:tailEnd len="sm" w="sm" type="none"/>
            </a:ln>
          </p:spPr>
        </p:cxnSp>
        <p:sp>
          <p:nvSpPr>
            <p:cNvPr id="114" name="Google Shape;114;p17"/>
            <p:cNvSpPr/>
            <p:nvPr/>
          </p:nvSpPr>
          <p:spPr>
            <a:xfrm flipH="1" rot="10800000">
              <a:off x="6000082" y="3333714"/>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7"/>
          <p:cNvSpPr txBox="1"/>
          <p:nvPr/>
        </p:nvSpPr>
        <p:spPr>
          <a:xfrm>
            <a:off x="1735750" y="1158075"/>
            <a:ext cx="2079900" cy="87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
              </a:spcBef>
              <a:spcAft>
                <a:spcPts val="0"/>
              </a:spcAft>
              <a:buNone/>
            </a:pPr>
            <a:r>
              <a:rPr lang="en" sz="1000">
                <a:solidFill>
                  <a:srgbClr val="424242"/>
                </a:solidFill>
              </a:rPr>
              <a:t>Split data into Training and Test Sets (e.g., 80-20 split)</a:t>
            </a:r>
            <a:endParaRPr sz="1000">
              <a:solidFill>
                <a:srgbClr val="424242"/>
              </a:solidFill>
            </a:endParaRPr>
          </a:p>
          <a:p>
            <a:pPr indent="0" lvl="0" marL="0" rtl="0" algn="l">
              <a:lnSpc>
                <a:spcPct val="115000"/>
              </a:lnSpc>
              <a:spcBef>
                <a:spcPts val="100"/>
              </a:spcBef>
              <a:spcAft>
                <a:spcPts val="0"/>
              </a:spcAft>
              <a:buNone/>
            </a:pPr>
            <a:r>
              <a:rPr lang="en" sz="1000">
                <a:solidFill>
                  <a:srgbClr val="424242"/>
                </a:solidFill>
              </a:rPr>
              <a:t>Separate Features (X) and Target (y)</a:t>
            </a:r>
            <a:endParaRPr sz="1000">
              <a:solidFill>
                <a:srgbClr val="424242"/>
              </a:solidFill>
            </a:endParaRPr>
          </a:p>
          <a:p>
            <a:pPr indent="0" lvl="0" marL="0" rtl="0" algn="l">
              <a:lnSpc>
                <a:spcPct val="115000"/>
              </a:lnSpc>
              <a:spcBef>
                <a:spcPts val="100"/>
              </a:spcBef>
              <a:spcAft>
                <a:spcPts val="100"/>
              </a:spcAft>
              <a:buNone/>
            </a:pPr>
            <a:r>
              <a:t/>
            </a:r>
            <a:endParaRPr sz="1000">
              <a:solidFill>
                <a:srgbClr val="424242"/>
              </a:solidFill>
            </a:endParaRPr>
          </a:p>
        </p:txBody>
      </p:sp>
      <p:sp>
        <p:nvSpPr>
          <p:cNvPr id="116" name="Google Shape;116;p17"/>
          <p:cNvSpPr txBox="1"/>
          <p:nvPr/>
        </p:nvSpPr>
        <p:spPr>
          <a:xfrm>
            <a:off x="3370875" y="3380552"/>
            <a:ext cx="1315500" cy="125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solidFill>
                  <a:srgbClr val="424242"/>
                </a:solidFill>
              </a:rPr>
              <a:t>Fit the Linear Regression Model: Train the model using </a:t>
            </a:r>
            <a:r>
              <a:rPr lang="en" sz="1000">
                <a:solidFill>
                  <a:srgbClr val="424242"/>
                </a:solidFill>
              </a:rPr>
              <a:t>Linear Regression</a:t>
            </a:r>
            <a:r>
              <a:rPr lang="en" sz="1000">
                <a:solidFill>
                  <a:srgbClr val="424242"/>
                </a:solidFill>
              </a:rPr>
              <a:t> or other frameworks</a:t>
            </a:r>
            <a:endParaRPr sz="1000">
              <a:solidFill>
                <a:srgbClr val="424242"/>
              </a:solidFill>
            </a:endParaRPr>
          </a:p>
          <a:p>
            <a:pPr indent="0" lvl="0" marL="0" rtl="0" algn="l">
              <a:lnSpc>
                <a:spcPct val="115000"/>
              </a:lnSpc>
              <a:spcBef>
                <a:spcPts val="1200"/>
              </a:spcBef>
              <a:spcAft>
                <a:spcPts val="100"/>
              </a:spcAft>
              <a:buNone/>
            </a:pPr>
            <a:r>
              <a:t/>
            </a:r>
            <a:endParaRPr b="1" sz="1000">
              <a:solidFill>
                <a:srgbClr val="424242"/>
              </a:solidFill>
            </a:endParaRPr>
          </a:p>
        </p:txBody>
      </p:sp>
      <p:sp>
        <p:nvSpPr>
          <p:cNvPr id="117" name="Google Shape;117;p17"/>
          <p:cNvSpPr txBox="1"/>
          <p:nvPr/>
        </p:nvSpPr>
        <p:spPr>
          <a:xfrm>
            <a:off x="6556950" y="553050"/>
            <a:ext cx="2587200" cy="1326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00"/>
              </a:spcBef>
              <a:spcAft>
                <a:spcPts val="0"/>
              </a:spcAft>
              <a:buNone/>
            </a:pPr>
            <a:r>
              <a:rPr lang="en" sz="1000"/>
              <a:t>Interpret Coefficients</a:t>
            </a:r>
            <a:endParaRPr sz="1000"/>
          </a:p>
          <a:p>
            <a:pPr indent="0" lvl="0" marL="0" rtl="0" algn="l">
              <a:lnSpc>
                <a:spcPct val="100000"/>
              </a:lnSpc>
              <a:spcBef>
                <a:spcPts val="100"/>
              </a:spcBef>
              <a:spcAft>
                <a:spcPts val="0"/>
              </a:spcAft>
              <a:buNone/>
            </a:pPr>
            <a:r>
              <a:rPr lang="en" sz="1000"/>
              <a:t>Confidence Intervals for Coefficients</a:t>
            </a:r>
            <a:endParaRPr sz="1000"/>
          </a:p>
          <a:p>
            <a:pPr indent="0" lvl="0" marL="0" rtl="0" algn="l">
              <a:lnSpc>
                <a:spcPct val="100000"/>
              </a:lnSpc>
              <a:spcBef>
                <a:spcPts val="100"/>
              </a:spcBef>
              <a:spcAft>
                <a:spcPts val="0"/>
              </a:spcAft>
              <a:buNone/>
            </a:pPr>
            <a:r>
              <a:rPr lang="en" sz="1000"/>
              <a:t>Model Improvement</a:t>
            </a:r>
            <a:endParaRPr sz="1000"/>
          </a:p>
          <a:p>
            <a:pPr indent="0" lvl="0" marL="0" rtl="0" algn="l">
              <a:lnSpc>
                <a:spcPct val="100000"/>
              </a:lnSpc>
              <a:spcBef>
                <a:spcPts val="100"/>
              </a:spcBef>
              <a:spcAft>
                <a:spcPts val="0"/>
              </a:spcAft>
              <a:buNone/>
            </a:pPr>
            <a:r>
              <a:rPr lang="en" sz="1000"/>
              <a:t>Feature Engineering generalizability through k-fold cross-validation</a:t>
            </a:r>
            <a:endParaRPr sz="1000"/>
          </a:p>
          <a:p>
            <a:pPr indent="0" lvl="0" marL="0" rtl="0" algn="l">
              <a:lnSpc>
                <a:spcPct val="100000"/>
              </a:lnSpc>
              <a:spcBef>
                <a:spcPts val="100"/>
              </a:spcBef>
              <a:spcAft>
                <a:spcPts val="0"/>
              </a:spcAft>
              <a:buNone/>
            </a:pPr>
            <a:r>
              <a:rPr lang="en" sz="1000"/>
              <a:t>Model Deployment</a:t>
            </a:r>
            <a:endParaRPr sz="1000"/>
          </a:p>
          <a:p>
            <a:pPr indent="0" lvl="0" marL="0" rtl="0" algn="l">
              <a:lnSpc>
                <a:spcPct val="100000"/>
              </a:lnSpc>
              <a:spcBef>
                <a:spcPts val="100"/>
              </a:spcBef>
              <a:spcAft>
                <a:spcPts val="100"/>
              </a:spcAft>
              <a:buNone/>
            </a:pPr>
            <a:r>
              <a:rPr lang="en" sz="1000"/>
              <a:t>Real-Time Prediction</a:t>
            </a:r>
            <a:endParaRPr sz="1000">
              <a:solidFill>
                <a:srgbClr val="737373"/>
              </a:solidFill>
            </a:endParaRPr>
          </a:p>
        </p:txBody>
      </p:sp>
      <p:grpSp>
        <p:nvGrpSpPr>
          <p:cNvPr id="118" name="Google Shape;118;p17"/>
          <p:cNvGrpSpPr/>
          <p:nvPr/>
        </p:nvGrpSpPr>
        <p:grpSpPr>
          <a:xfrm>
            <a:off x="7480584" y="1925326"/>
            <a:ext cx="135272" cy="440790"/>
            <a:chOff x="11175007" y="1610215"/>
            <a:chExt cx="198900" cy="593656"/>
          </a:xfrm>
        </p:grpSpPr>
        <p:cxnSp>
          <p:nvCxnSpPr>
            <p:cNvPr id="119" name="Google Shape;119;p17"/>
            <p:cNvCxnSpPr/>
            <p:nvPr/>
          </p:nvCxnSpPr>
          <p:spPr>
            <a:xfrm>
              <a:off x="11274470" y="1649171"/>
              <a:ext cx="0" cy="554700"/>
            </a:xfrm>
            <a:prstGeom prst="straightConnector1">
              <a:avLst/>
            </a:prstGeom>
            <a:noFill/>
            <a:ln cap="flat" cmpd="sng" w="9525">
              <a:solidFill>
                <a:srgbClr val="424242"/>
              </a:solidFill>
              <a:prstDash val="solid"/>
              <a:round/>
              <a:headEnd len="sm" w="sm" type="none"/>
              <a:tailEnd len="sm" w="sm" type="none"/>
            </a:ln>
          </p:spPr>
        </p:cxnSp>
        <p:sp>
          <p:nvSpPr>
            <p:cNvPr id="120" name="Google Shape;120;p17"/>
            <p:cNvSpPr/>
            <p:nvPr/>
          </p:nvSpPr>
          <p:spPr>
            <a:xfrm>
              <a:off x="11175007" y="1610215"/>
              <a:ext cx="198900" cy="198900"/>
            </a:xfrm>
            <a:prstGeom prst="ellipse">
              <a:avLst/>
            </a:prstGeom>
            <a:solidFill>
              <a:srgbClr val="F4B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8"/>
          <p:cNvPicPr preferRelativeResize="0"/>
          <p:nvPr/>
        </p:nvPicPr>
        <p:blipFill>
          <a:blip r:embed="rId3">
            <a:alphaModFix/>
          </a:blip>
          <a:stretch>
            <a:fillRect/>
          </a:stretch>
        </p:blipFill>
        <p:spPr>
          <a:xfrm>
            <a:off x="16376" y="1298775"/>
            <a:ext cx="4253326" cy="2828001"/>
          </a:xfrm>
          <a:prstGeom prst="rect">
            <a:avLst/>
          </a:prstGeom>
          <a:noFill/>
          <a:ln>
            <a:noFill/>
          </a:ln>
        </p:spPr>
      </p:pic>
      <p:sp>
        <p:nvSpPr>
          <p:cNvPr id="126" name="Google Shape;126;p18"/>
          <p:cNvSpPr txBox="1"/>
          <p:nvPr/>
        </p:nvSpPr>
        <p:spPr>
          <a:xfrm>
            <a:off x="4577350" y="934700"/>
            <a:ext cx="4253400" cy="400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t>Leverage points are those that are far from the mean of the predictor variables and might have a significant impact on the model.</a:t>
            </a:r>
            <a:endParaRPr sz="1300"/>
          </a:p>
          <a:p>
            <a:pPr indent="0" lvl="0" marL="0" rtl="0" algn="l">
              <a:lnSpc>
                <a:spcPct val="115000"/>
              </a:lnSpc>
              <a:spcBef>
                <a:spcPts val="1200"/>
              </a:spcBef>
              <a:spcAft>
                <a:spcPts val="0"/>
              </a:spcAft>
              <a:buNone/>
            </a:pPr>
            <a:r>
              <a:rPr lang="en" sz="1300"/>
              <a:t>Cook’s Distance, DFFITS, Standardized Residuals, and DFBETAS can help identify points that disproportionately influence the regression coefficients and predictions.</a:t>
            </a:r>
            <a:endParaRPr sz="1300"/>
          </a:p>
          <a:p>
            <a:pPr indent="0" lvl="0" marL="0" rtl="0" algn="l">
              <a:lnSpc>
                <a:spcPct val="115000"/>
              </a:lnSpc>
              <a:spcBef>
                <a:spcPts val="1200"/>
              </a:spcBef>
              <a:spcAft>
                <a:spcPts val="0"/>
              </a:spcAft>
              <a:buNone/>
            </a:pPr>
            <a:r>
              <a:rPr lang="en" sz="1300"/>
              <a:t>Use multiple diagnostic measures to get a holistic view of influential data points.</a:t>
            </a:r>
            <a:endParaRPr sz="1300"/>
          </a:p>
          <a:p>
            <a:pPr indent="0" lvl="0" marL="0" rtl="0" algn="l">
              <a:lnSpc>
                <a:spcPct val="115000"/>
              </a:lnSpc>
              <a:spcBef>
                <a:spcPts val="1200"/>
              </a:spcBef>
              <a:spcAft>
                <a:spcPts val="0"/>
              </a:spcAft>
              <a:buNone/>
            </a:pPr>
            <a:r>
              <a:rPr lang="en" sz="1300"/>
              <a:t>By detecting and potentially removing or addressing these influential points, you can improve the robustness and reliability of your model.</a:t>
            </a:r>
            <a:endParaRPr sz="13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
        <p:nvSpPr>
          <p:cNvPr id="127" name="Google Shape;127;p18"/>
          <p:cNvSpPr txBox="1"/>
          <p:nvPr/>
        </p:nvSpPr>
        <p:spPr>
          <a:xfrm>
            <a:off x="1106675" y="194425"/>
            <a:ext cx="66528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dk1"/>
                </a:solidFill>
              </a:rPr>
              <a:t>Influential</a:t>
            </a:r>
            <a:r>
              <a:rPr b="1" i="1" lang="en" sz="2000">
                <a:solidFill>
                  <a:schemeClr val="dk1"/>
                </a:solidFill>
              </a:rPr>
              <a:t> Point</a:t>
            </a:r>
            <a:endParaRPr b="1" i="1"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graphicFrame>
        <p:nvGraphicFramePr>
          <p:cNvPr id="133" name="Google Shape;133;p19"/>
          <p:cNvGraphicFramePr/>
          <p:nvPr/>
        </p:nvGraphicFramePr>
        <p:xfrm>
          <a:off x="200025" y="88688"/>
          <a:ext cx="3000000" cy="3000000"/>
        </p:xfrm>
        <a:graphic>
          <a:graphicData uri="http://schemas.openxmlformats.org/drawingml/2006/table">
            <a:tbl>
              <a:tblPr>
                <a:solidFill>
                  <a:srgbClr val="FFFFFF"/>
                </a:solidFill>
                <a:tableStyleId>{5381A37A-1F9F-401C-B0B8-42743581B24F}</a:tableStyleId>
              </a:tblPr>
              <a:tblGrid>
                <a:gridCol w="1300425"/>
                <a:gridCol w="3261075"/>
                <a:gridCol w="4230075"/>
              </a:tblGrid>
              <a:tr h="619400">
                <a:tc>
                  <a:txBody>
                    <a:bodyPr/>
                    <a:lstStyle/>
                    <a:p>
                      <a:pPr indent="0" lvl="0" marL="0" rtl="0" algn="ctr">
                        <a:lnSpc>
                          <a:spcPct val="115000"/>
                        </a:lnSpc>
                        <a:spcBef>
                          <a:spcPts val="0"/>
                        </a:spcBef>
                        <a:spcAft>
                          <a:spcPts val="0"/>
                        </a:spcAft>
                        <a:buNone/>
                      </a:pPr>
                      <a:r>
                        <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950">
                          <a:solidFill>
                            <a:srgbClr val="333333"/>
                          </a:solidFill>
                          <a:highlight>
                            <a:schemeClr val="lt1"/>
                          </a:highlight>
                          <a:latin typeface="Roboto"/>
                          <a:ea typeface="Roboto"/>
                          <a:cs typeface="Roboto"/>
                          <a:sym typeface="Roboto"/>
                        </a:rPr>
                        <a:t>Correlation coefficient: r</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950">
                          <a:solidFill>
                            <a:srgbClr val="333333"/>
                          </a:solidFill>
                          <a:highlight>
                            <a:schemeClr val="lt1"/>
                          </a:highlight>
                          <a:latin typeface="Roboto"/>
                          <a:ea typeface="Roboto"/>
                          <a:cs typeface="Roboto"/>
                          <a:sym typeface="Roboto"/>
                        </a:rPr>
                        <a:t>Regression coefficient: β</a:t>
                      </a:r>
                      <a:r>
                        <a:rPr b="1" lang="en" sz="550">
                          <a:solidFill>
                            <a:srgbClr val="333333"/>
                          </a:solidFill>
                          <a:highlight>
                            <a:schemeClr val="lt1"/>
                          </a:highlight>
                          <a:latin typeface="Roboto"/>
                          <a:ea typeface="Roboto"/>
                          <a:cs typeface="Roboto"/>
                          <a:sym typeface="Roboto"/>
                        </a:rPr>
                        <a:t>1</a:t>
                      </a:r>
                      <a:endParaRPr b="1" sz="550">
                        <a:solidFill>
                          <a:srgbClr val="333333"/>
                        </a:solidFill>
                        <a:highlight>
                          <a:schemeClr val="lt1"/>
                        </a:highlight>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b="1" lang="en" sz="950">
                          <a:solidFill>
                            <a:srgbClr val="333333"/>
                          </a:solidFill>
                          <a:highlight>
                            <a:schemeClr val="lt1"/>
                          </a:highlight>
                          <a:latin typeface="Roboto"/>
                          <a:ea typeface="Roboto"/>
                          <a:cs typeface="Roboto"/>
                          <a:sym typeface="Roboto"/>
                        </a:rPr>
                        <a:t>(in the linear model:</a:t>
                      </a:r>
                      <a:endParaRPr b="1" sz="950">
                        <a:solidFill>
                          <a:srgbClr val="333333"/>
                        </a:solidFill>
                        <a:highlight>
                          <a:schemeClr val="lt1"/>
                        </a:highlight>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b="1" lang="en" sz="950">
                          <a:solidFill>
                            <a:srgbClr val="333333"/>
                          </a:solidFill>
                          <a:highlight>
                            <a:schemeClr val="lt1"/>
                          </a:highlight>
                          <a:latin typeface="Roboto"/>
                          <a:ea typeface="Roboto"/>
                          <a:cs typeface="Roboto"/>
                          <a:sym typeface="Roboto"/>
                        </a:rPr>
                        <a:t>Y = β</a:t>
                      </a:r>
                      <a:r>
                        <a:rPr b="1" lang="en" sz="550">
                          <a:solidFill>
                            <a:srgbClr val="333333"/>
                          </a:solidFill>
                          <a:highlight>
                            <a:schemeClr val="lt1"/>
                          </a:highlight>
                          <a:latin typeface="Roboto"/>
                          <a:ea typeface="Roboto"/>
                          <a:cs typeface="Roboto"/>
                          <a:sym typeface="Roboto"/>
                        </a:rPr>
                        <a:t>0</a:t>
                      </a:r>
                      <a:r>
                        <a:rPr b="1" lang="en" sz="950">
                          <a:solidFill>
                            <a:srgbClr val="333333"/>
                          </a:solidFill>
                          <a:highlight>
                            <a:schemeClr val="lt1"/>
                          </a:highlight>
                          <a:latin typeface="Roboto"/>
                          <a:ea typeface="Roboto"/>
                          <a:cs typeface="Roboto"/>
                          <a:sym typeface="Roboto"/>
                        </a:rPr>
                        <a:t> + β</a:t>
                      </a:r>
                      <a:r>
                        <a:rPr b="1" lang="en" sz="550">
                          <a:solidFill>
                            <a:srgbClr val="333333"/>
                          </a:solidFill>
                          <a:highlight>
                            <a:schemeClr val="lt1"/>
                          </a:highlight>
                          <a:latin typeface="Roboto"/>
                          <a:ea typeface="Roboto"/>
                          <a:cs typeface="Roboto"/>
                          <a:sym typeface="Roboto"/>
                        </a:rPr>
                        <a:t>1</a:t>
                      </a:r>
                      <a:r>
                        <a:rPr b="1" lang="en" sz="950">
                          <a:solidFill>
                            <a:srgbClr val="333333"/>
                          </a:solidFill>
                          <a:highlight>
                            <a:schemeClr val="lt1"/>
                          </a:highlight>
                          <a:latin typeface="Roboto"/>
                          <a:ea typeface="Roboto"/>
                          <a:cs typeface="Roboto"/>
                          <a:sym typeface="Roboto"/>
                        </a:rPr>
                        <a:t>X)</a:t>
                      </a:r>
                      <a:endParaRPr sz="900"/>
                    </a:p>
                  </a:txBody>
                  <a:tcPr marT="91425" marB="91425" marR="91425" marL="91425">
                    <a:lnL cap="flat" cmpd="sng" w="9525">
                      <a:solidFill>
                        <a:srgbClr val="333333"/>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333333"/>
                      </a:solidFill>
                      <a:prstDash val="solid"/>
                      <a:round/>
                      <a:headEnd len="sm" w="sm" type="none"/>
                      <a:tailEnd len="sm" w="sm" type="none"/>
                    </a:lnB>
                  </a:tcPr>
                </a:tc>
              </a:tr>
              <a:tr h="470600">
                <a:tc>
                  <a:txBody>
                    <a:bodyPr/>
                    <a:lstStyle/>
                    <a:p>
                      <a:pPr indent="0" lvl="0" marL="0" rtl="0" algn="ctr">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Objective</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Measures the strength of the linear relationship between 2 variables: X and Y.</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Describes the relationship between 2 variables: X and Y.</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320600">
                <a:tc>
                  <a:txBody>
                    <a:bodyPr/>
                    <a:lstStyle/>
                    <a:p>
                      <a:pPr indent="0" lvl="0" marL="0" rtl="0" algn="ctr">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Range</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[-1, 1]</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 +∞)</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1713000">
                <a:tc>
                  <a:txBody>
                    <a:bodyPr/>
                    <a:lstStyle/>
                    <a:p>
                      <a:pPr indent="0" lvl="0" marL="0" rtl="0" algn="ctr">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Interpretation</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 r close to -1 reflects a negative correlation between X and Y (as one increases, the other decreases).</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a:t>
                      </a:r>
                      <a:r>
                        <a:rPr lang="en" sz="950">
                          <a:solidFill>
                            <a:srgbClr val="333333"/>
                          </a:solidFill>
                          <a:highlight>
                            <a:srgbClr val="FFFFFF"/>
                          </a:highlight>
                          <a:latin typeface="Roboto"/>
                          <a:ea typeface="Roboto"/>
                          <a:cs typeface="Roboto"/>
                          <a:sym typeface="Roboto"/>
                        </a:rPr>
                        <a:t> r close to 0 reflects no correlation between X and Y (no linear relationship exists between the 2 variables).</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 r close to 1 reflects a positive correlation between X and Y (the 2 variables tend to increase and decrease together).</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β</a:t>
                      </a:r>
                      <a:r>
                        <a:rPr lang="en" sz="550">
                          <a:solidFill>
                            <a:srgbClr val="333333"/>
                          </a:solidFill>
                          <a:highlight>
                            <a:srgbClr val="FFFFFF"/>
                          </a:highlight>
                          <a:latin typeface="Roboto"/>
                          <a:ea typeface="Roboto"/>
                          <a:cs typeface="Roboto"/>
                          <a:sym typeface="Roboto"/>
                        </a:rPr>
                        <a:t>1</a:t>
                      </a:r>
                      <a:r>
                        <a:rPr lang="en" sz="950">
                          <a:solidFill>
                            <a:srgbClr val="333333"/>
                          </a:solidFill>
                          <a:highlight>
                            <a:srgbClr val="FFFFFF"/>
                          </a:highlight>
                          <a:latin typeface="Roboto"/>
                          <a:ea typeface="Roboto"/>
                          <a:cs typeface="Roboto"/>
                          <a:sym typeface="Roboto"/>
                        </a:rPr>
                        <a:t> is the unit change in Y corresponding to a 1 unit change in X. (for more details, see: Interpret Linear Regression Coefficients)</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Similar to the correlation coefficient r:</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 β</a:t>
                      </a:r>
                      <a:r>
                        <a:rPr lang="en" sz="550">
                          <a:solidFill>
                            <a:srgbClr val="333333"/>
                          </a:solidFill>
                          <a:highlight>
                            <a:srgbClr val="FFFFFF"/>
                          </a:highlight>
                          <a:latin typeface="Roboto"/>
                          <a:ea typeface="Roboto"/>
                          <a:cs typeface="Roboto"/>
                          <a:sym typeface="Roboto"/>
                        </a:rPr>
                        <a:t>1</a:t>
                      </a:r>
                      <a:r>
                        <a:rPr lang="en" sz="950">
                          <a:solidFill>
                            <a:srgbClr val="333333"/>
                          </a:solidFill>
                          <a:highlight>
                            <a:srgbClr val="FFFFFF"/>
                          </a:highlight>
                          <a:latin typeface="Roboto"/>
                          <a:ea typeface="Roboto"/>
                          <a:cs typeface="Roboto"/>
                          <a:sym typeface="Roboto"/>
                        </a:rPr>
                        <a:t> &lt; 0 reflects a negative correlation between X and Y.</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 β</a:t>
                      </a:r>
                      <a:r>
                        <a:rPr lang="en" sz="550">
                          <a:solidFill>
                            <a:srgbClr val="333333"/>
                          </a:solidFill>
                          <a:highlight>
                            <a:srgbClr val="FFFFFF"/>
                          </a:highlight>
                          <a:latin typeface="Roboto"/>
                          <a:ea typeface="Roboto"/>
                          <a:cs typeface="Roboto"/>
                          <a:sym typeface="Roboto"/>
                        </a:rPr>
                        <a:t>1</a:t>
                      </a:r>
                      <a:r>
                        <a:rPr lang="en" sz="950">
                          <a:solidFill>
                            <a:srgbClr val="333333"/>
                          </a:solidFill>
                          <a:highlight>
                            <a:srgbClr val="FFFFFF"/>
                          </a:highlight>
                          <a:latin typeface="Roboto"/>
                          <a:ea typeface="Roboto"/>
                          <a:cs typeface="Roboto"/>
                          <a:sym typeface="Roboto"/>
                        </a:rPr>
                        <a:t> &gt; 0 reflects a positive correlation between X and Y.</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981975">
                <a:tc>
                  <a:txBody>
                    <a:bodyPr/>
                    <a:lstStyle/>
                    <a:p>
                      <a:pPr indent="0" lvl="0" marL="0" rtl="0" algn="ctr">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Strength</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Does not depend on the units of measurement of X and Y.</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Quantifies the amount of change in Y for a 1 unit change in X.</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β</a:t>
                      </a:r>
                      <a:r>
                        <a:rPr lang="en" sz="550">
                          <a:solidFill>
                            <a:srgbClr val="333333"/>
                          </a:solidFill>
                          <a:highlight>
                            <a:srgbClr val="FFFFFF"/>
                          </a:highlight>
                          <a:latin typeface="Roboto"/>
                          <a:ea typeface="Roboto"/>
                          <a:cs typeface="Roboto"/>
                          <a:sym typeface="Roboto"/>
                        </a:rPr>
                        <a:t>1</a:t>
                      </a:r>
                      <a:r>
                        <a:rPr lang="en" sz="950">
                          <a:solidFill>
                            <a:srgbClr val="333333"/>
                          </a:solidFill>
                          <a:highlight>
                            <a:srgbClr val="FFFFFF"/>
                          </a:highlight>
                          <a:latin typeface="Roboto"/>
                          <a:ea typeface="Roboto"/>
                          <a:cs typeface="Roboto"/>
                          <a:sym typeface="Roboto"/>
                        </a:rPr>
                        <a:t> enables us to calculate the value of Y for different values of X.</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689525">
                <a:tc>
                  <a:txBody>
                    <a:bodyPr/>
                    <a:lstStyle/>
                    <a:p>
                      <a:pPr indent="0" lvl="0" marL="0" rtl="0" algn="ctr">
                        <a:lnSpc>
                          <a:spcPct val="115000"/>
                        </a:lnSpc>
                        <a:spcBef>
                          <a:spcPts val="0"/>
                        </a:spcBef>
                        <a:spcAft>
                          <a:spcPts val="0"/>
                        </a:spcAft>
                        <a:buNone/>
                      </a:pPr>
                      <a:r>
                        <a:rPr b="1" lang="en" sz="950">
                          <a:solidFill>
                            <a:srgbClr val="333333"/>
                          </a:solidFill>
                          <a:highlight>
                            <a:srgbClr val="FFFFFF"/>
                          </a:highlight>
                          <a:latin typeface="Roboto"/>
                          <a:ea typeface="Roboto"/>
                          <a:cs typeface="Roboto"/>
                          <a:sym typeface="Roboto"/>
                        </a:rPr>
                        <a:t>Limitation</a:t>
                      </a:r>
                      <a:endParaRPr b="1"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Cannot tell us what happens to Y if we change X by 1 unit.</a:t>
                      </a:r>
                      <a:endParaRPr sz="95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Does not tell us anything about the value of Y given X.</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50">
                          <a:solidFill>
                            <a:srgbClr val="333333"/>
                          </a:solidFill>
                          <a:highlight>
                            <a:srgbClr val="FFFFFF"/>
                          </a:highlight>
                          <a:latin typeface="Roboto"/>
                          <a:ea typeface="Roboto"/>
                          <a:cs typeface="Roboto"/>
                          <a:sym typeface="Roboto"/>
                        </a:rPr>
                        <a:t>Depends on the units of measurement of X and Y.</a:t>
                      </a:r>
                      <a:endParaRPr sz="950">
                        <a:solidFill>
                          <a:srgbClr val="333333"/>
                        </a:solidFill>
                        <a:highlight>
                          <a:srgbClr val="FFFFFF"/>
                        </a:highlight>
                        <a:latin typeface="Roboto"/>
                        <a:ea typeface="Roboto"/>
                        <a:cs typeface="Roboto"/>
                        <a:sym typeface="Roboto"/>
                      </a:endParaRPr>
                    </a:p>
                  </a:txBody>
                  <a:tcPr marT="92075" marB="92075" marR="92075" marL="9207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i="1" lang="en" sz="2020">
                <a:latin typeface="Raleway"/>
                <a:ea typeface="Raleway"/>
                <a:cs typeface="Raleway"/>
                <a:sym typeface="Raleway"/>
              </a:rPr>
              <a:t>Residual sum of Squares</a:t>
            </a:r>
            <a:endParaRPr b="1" i="1" sz="2020">
              <a:latin typeface="Raleway"/>
              <a:ea typeface="Raleway"/>
              <a:cs typeface="Raleway"/>
              <a:sym typeface="Raleway"/>
            </a:endParaRPr>
          </a:p>
        </p:txBody>
      </p:sp>
      <p:sp>
        <p:nvSpPr>
          <p:cNvPr id="139" name="Google Shape;13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00">
                <a:solidFill>
                  <a:schemeClr val="dk1"/>
                </a:solidFill>
              </a:rPr>
              <a:t>RSS represents the total squared error between the actual and predicted values.</a:t>
            </a: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It plays a crucial role in assessing the fit of a regression model. Lower RSS indicates better model performance.</a:t>
            </a: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RSS is minimized in Ordinary Least Squares (OLS) regression to find the best-fitting model.</a:t>
            </a:r>
            <a:endParaRPr sz="1300">
              <a:solidFill>
                <a:schemeClr val="dk1"/>
              </a:solidFill>
            </a:endParaRPr>
          </a:p>
          <a:p>
            <a:pPr indent="0" lvl="0" marL="0" rtl="0" algn="l">
              <a:spcBef>
                <a:spcPts val="1200"/>
              </a:spcBef>
              <a:spcAft>
                <a:spcPts val="0"/>
              </a:spcAft>
              <a:buClr>
                <a:schemeClr val="dk1"/>
              </a:buClr>
              <a:buSzPts val="1100"/>
              <a:buFont typeface="Arial"/>
              <a:buNone/>
            </a:pPr>
            <a:r>
              <a:rPr lang="en" sz="1300">
                <a:solidFill>
                  <a:schemeClr val="dk1"/>
                </a:solidFill>
              </a:rPr>
              <a:t>R² and RSS are closely related, where a higher R² corresponds to a lower RSS.</a:t>
            </a:r>
            <a:endParaRPr sz="1300">
              <a:solidFill>
                <a:schemeClr val="dk1"/>
              </a:solidFill>
            </a:endParaRPr>
          </a:p>
          <a:p>
            <a:pPr indent="0" lvl="0" marL="0" rtl="0" algn="l">
              <a:spcBef>
                <a:spcPts val="1200"/>
              </a:spcBef>
              <a:spcAft>
                <a:spcPts val="1200"/>
              </a:spcAft>
              <a:buNone/>
            </a:pPr>
            <a:r>
              <a:t/>
            </a:r>
            <a:endParaRPr/>
          </a:p>
        </p:txBody>
      </p:sp>
      <p:pic>
        <p:nvPicPr>
          <p:cNvPr id="140" name="Google Shape;140;p20"/>
          <p:cNvPicPr preferRelativeResize="0"/>
          <p:nvPr/>
        </p:nvPicPr>
        <p:blipFill>
          <a:blip r:embed="rId3">
            <a:alphaModFix/>
          </a:blip>
          <a:stretch>
            <a:fillRect/>
          </a:stretch>
        </p:blipFill>
        <p:spPr>
          <a:xfrm>
            <a:off x="523875" y="2997238"/>
            <a:ext cx="8096250" cy="1571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200"/>
              </a:spcBef>
              <a:spcAft>
                <a:spcPts val="500"/>
              </a:spcAft>
              <a:buNone/>
            </a:pPr>
            <a:r>
              <a:rPr b="1" i="1" lang="en" sz="2000">
                <a:solidFill>
                  <a:srgbClr val="424242"/>
                </a:solidFill>
                <a:highlight>
                  <a:srgbClr val="FAFAFA"/>
                </a:highlight>
                <a:latin typeface="Raleway"/>
                <a:ea typeface="Raleway"/>
                <a:cs typeface="Raleway"/>
                <a:sym typeface="Raleway"/>
              </a:rPr>
              <a:t>Why Perform Residual Analysis?</a:t>
            </a:r>
            <a:endParaRPr b="1" i="1" sz="2000">
              <a:latin typeface="Raleway"/>
              <a:ea typeface="Raleway"/>
              <a:cs typeface="Raleway"/>
              <a:sym typeface="Raleway"/>
            </a:endParaRPr>
          </a:p>
        </p:txBody>
      </p:sp>
      <p:sp>
        <p:nvSpPr>
          <p:cNvPr id="146" name="Google Shape;146;p21"/>
          <p:cNvSpPr txBox="1"/>
          <p:nvPr>
            <p:ph idx="1" type="body"/>
          </p:nvPr>
        </p:nvSpPr>
        <p:spPr>
          <a:xfrm>
            <a:off x="5178800" y="1152475"/>
            <a:ext cx="3614400" cy="36618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424242"/>
              </a:buClr>
              <a:buSzPts val="1200"/>
              <a:buFont typeface="Arial"/>
              <a:buAutoNum type="arabicPeriod"/>
            </a:pPr>
            <a:r>
              <a:rPr b="1" lang="en" sz="1200">
                <a:solidFill>
                  <a:srgbClr val="424242"/>
                </a:solidFill>
                <a:highlight>
                  <a:srgbClr val="FAFAFA"/>
                </a:highlight>
              </a:rPr>
              <a:t>Residuals vs. Fitted Values:</a:t>
            </a:r>
            <a:r>
              <a:rPr lang="en" sz="1200">
                <a:solidFill>
                  <a:srgbClr val="424242"/>
                </a:solidFill>
                <a:highlight>
                  <a:srgbClr val="FAFAFA"/>
                </a:highlight>
              </a:rPr>
              <a:t> Look for randomness around the horizontal line at zero. Patterns or systematic structures indicate model inadequacies.</a:t>
            </a:r>
            <a:endParaRPr sz="1200">
              <a:solidFill>
                <a:srgbClr val="424242"/>
              </a:solidFill>
              <a:highlight>
                <a:srgbClr val="FAFAFA"/>
              </a:highlight>
            </a:endParaRPr>
          </a:p>
          <a:p>
            <a:pPr indent="-304800" lvl="0" marL="457200" rtl="0" algn="l">
              <a:spcBef>
                <a:spcPts val="0"/>
              </a:spcBef>
              <a:spcAft>
                <a:spcPts val="0"/>
              </a:spcAft>
              <a:buClr>
                <a:srgbClr val="424242"/>
              </a:buClr>
              <a:buSzPts val="1200"/>
              <a:buFont typeface="Arial"/>
              <a:buAutoNum type="arabicPeriod"/>
            </a:pPr>
            <a:r>
              <a:rPr b="1" lang="en" sz="1200">
                <a:solidFill>
                  <a:srgbClr val="424242"/>
                </a:solidFill>
                <a:highlight>
                  <a:srgbClr val="FAFAFA"/>
                </a:highlight>
              </a:rPr>
              <a:t>Histogram of Residuals:</a:t>
            </a:r>
            <a:r>
              <a:rPr lang="en" sz="1200">
                <a:solidFill>
                  <a:srgbClr val="424242"/>
                </a:solidFill>
                <a:highlight>
                  <a:srgbClr val="FAFAFA"/>
                </a:highlight>
              </a:rPr>
              <a:t> Check if the residuals are approximately normally distributed.</a:t>
            </a:r>
            <a:endParaRPr sz="1200">
              <a:solidFill>
                <a:srgbClr val="424242"/>
              </a:solidFill>
              <a:highlight>
                <a:srgbClr val="FAFAFA"/>
              </a:highlight>
            </a:endParaRPr>
          </a:p>
          <a:p>
            <a:pPr indent="-304800" lvl="0" marL="457200" rtl="0" algn="l">
              <a:spcBef>
                <a:spcPts val="0"/>
              </a:spcBef>
              <a:spcAft>
                <a:spcPts val="0"/>
              </a:spcAft>
              <a:buClr>
                <a:srgbClr val="424242"/>
              </a:buClr>
              <a:buSzPts val="1200"/>
              <a:buFont typeface="Arial"/>
              <a:buAutoNum type="arabicPeriod"/>
            </a:pPr>
            <a:r>
              <a:rPr b="1" lang="en" sz="1200">
                <a:solidFill>
                  <a:srgbClr val="424242"/>
                </a:solidFill>
                <a:highlight>
                  <a:srgbClr val="FAFAFA"/>
                </a:highlight>
              </a:rPr>
              <a:t>Q-Q Plot of Residuals:</a:t>
            </a:r>
            <a:r>
              <a:rPr lang="en" sz="1200">
                <a:solidFill>
                  <a:srgbClr val="424242"/>
                </a:solidFill>
                <a:highlight>
                  <a:srgbClr val="FAFAFA"/>
                </a:highlight>
              </a:rPr>
              <a:t> Check if the residuals follow a straight line, indicating normality.</a:t>
            </a:r>
            <a:endParaRPr sz="1200">
              <a:solidFill>
                <a:srgbClr val="424242"/>
              </a:solidFill>
              <a:highlight>
                <a:srgbClr val="FAFAFA"/>
              </a:highlight>
            </a:endParaRPr>
          </a:p>
          <a:p>
            <a:pPr indent="-304800" lvl="0" marL="457200" rtl="0" algn="l">
              <a:spcBef>
                <a:spcPts val="0"/>
              </a:spcBef>
              <a:spcAft>
                <a:spcPts val="0"/>
              </a:spcAft>
              <a:buClr>
                <a:srgbClr val="424242"/>
              </a:buClr>
              <a:buSzPts val="1200"/>
              <a:buFont typeface="Arial"/>
              <a:buAutoNum type="arabicPeriod"/>
            </a:pPr>
            <a:r>
              <a:rPr b="1" lang="en" sz="1200">
                <a:solidFill>
                  <a:srgbClr val="424242"/>
                </a:solidFill>
                <a:highlight>
                  <a:srgbClr val="FAFAFA"/>
                </a:highlight>
              </a:rPr>
              <a:t>Residuals vs. Predictor Variable (X):</a:t>
            </a:r>
            <a:r>
              <a:rPr lang="en" sz="1200">
                <a:solidFill>
                  <a:srgbClr val="424242"/>
                </a:solidFill>
                <a:highlight>
                  <a:srgbClr val="FAFAFA"/>
                </a:highlight>
              </a:rPr>
              <a:t> Check for any patterns that suggest non-linearity or interaction effects.</a:t>
            </a:r>
            <a:endParaRPr sz="1200">
              <a:solidFill>
                <a:srgbClr val="424242"/>
              </a:solidFill>
              <a:highlight>
                <a:srgbClr val="FAFAFA"/>
              </a:highlight>
            </a:endParaRPr>
          </a:p>
          <a:p>
            <a:pPr indent="0" lvl="0" marL="0" rtl="0" algn="l">
              <a:spcBef>
                <a:spcPts val="600"/>
              </a:spcBef>
              <a:spcAft>
                <a:spcPts val="1200"/>
              </a:spcAft>
              <a:buNone/>
            </a:pPr>
            <a:r>
              <a:t/>
            </a:r>
            <a:endParaRPr/>
          </a:p>
        </p:txBody>
      </p:sp>
      <p:pic>
        <p:nvPicPr>
          <p:cNvPr id="147" name="Google Shape;147;p21"/>
          <p:cNvPicPr preferRelativeResize="0"/>
          <p:nvPr/>
        </p:nvPicPr>
        <p:blipFill rotWithShape="1">
          <a:blip r:embed="rId3">
            <a:alphaModFix/>
          </a:blip>
          <a:srcRect b="0" l="0" r="0" t="0"/>
          <a:stretch/>
        </p:blipFill>
        <p:spPr>
          <a:xfrm>
            <a:off x="173550" y="1134075"/>
            <a:ext cx="4939624" cy="3517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3" name="Google Shape;15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54" name="Google Shape;154;p22"/>
          <p:cNvGraphicFramePr/>
          <p:nvPr/>
        </p:nvGraphicFramePr>
        <p:xfrm>
          <a:off x="152400" y="69725"/>
          <a:ext cx="3000000" cy="3000000"/>
        </p:xfrm>
        <a:graphic>
          <a:graphicData uri="http://schemas.openxmlformats.org/drawingml/2006/table">
            <a:tbl>
              <a:tblPr>
                <a:solidFill>
                  <a:srgbClr val="FAFAFA"/>
                </a:solidFill>
                <a:tableStyleId>{5381A37A-1F9F-401C-B0B8-42743581B24F}</a:tableStyleId>
              </a:tblPr>
              <a:tblGrid>
                <a:gridCol w="1346000"/>
                <a:gridCol w="3848075"/>
                <a:gridCol w="3562025"/>
              </a:tblGrid>
              <a:tr h="549350">
                <a:tc>
                  <a:txBody>
                    <a:bodyPr/>
                    <a:lstStyle/>
                    <a:p>
                      <a:pPr indent="0" lvl="0" marL="0" rtl="0" algn="l">
                        <a:lnSpc>
                          <a:spcPct val="115000"/>
                        </a:lnSpc>
                        <a:spcBef>
                          <a:spcPts val="1200"/>
                        </a:spcBef>
                        <a:spcAft>
                          <a:spcPts val="1800"/>
                        </a:spcAft>
                        <a:buNone/>
                      </a:pPr>
                      <a:r>
                        <a:rPr b="1" lang="en" sz="1000">
                          <a:solidFill>
                            <a:srgbClr val="424242"/>
                          </a:solidFill>
                          <a:highlight>
                            <a:srgbClr val="FAFAFA"/>
                          </a:highlight>
                          <a:latin typeface="Roboto"/>
                          <a:ea typeface="Roboto"/>
                          <a:cs typeface="Roboto"/>
                          <a:sym typeface="Roboto"/>
                        </a:rPr>
                        <a:t>Metric</a:t>
                      </a:r>
                      <a:endParaRPr b="1"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b="1" lang="en" sz="1000">
                          <a:solidFill>
                            <a:srgbClr val="424242"/>
                          </a:solidFill>
                          <a:highlight>
                            <a:srgbClr val="FAFAFA"/>
                          </a:highlight>
                          <a:latin typeface="Roboto"/>
                          <a:ea typeface="Roboto"/>
                          <a:cs typeface="Roboto"/>
                          <a:sym typeface="Roboto"/>
                        </a:rPr>
                        <a:t>R-squared</a:t>
                      </a:r>
                      <a:endParaRPr b="1"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b="1" lang="en" sz="1000">
                          <a:solidFill>
                            <a:srgbClr val="424242"/>
                          </a:solidFill>
                          <a:highlight>
                            <a:srgbClr val="FAFAFA"/>
                          </a:highlight>
                          <a:latin typeface="Roboto"/>
                          <a:ea typeface="Roboto"/>
                          <a:cs typeface="Roboto"/>
                          <a:sym typeface="Roboto"/>
                        </a:rPr>
                        <a:t>Adjusted R-squared</a:t>
                      </a:r>
                      <a:endParaRPr b="1"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932275">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Definition</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Measures the proportion of variance in the dependent variable explained by the independent variables.</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Adjusts the R-squared value based on the number of predictors in the model.</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593275">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Range</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0 to 1</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0 to 1 (can be lower than R-squared)</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762775">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Effect of Adding Predictors</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Always increases (or stays the same) regardless of the predictors' relevance.</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Can decrease if the added predictors do not improve the model.</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762775">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Usefulness</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Good for understanding the overall fit of the model.</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Better for comparing models with different numbers of predictors.</a:t>
                      </a:r>
                      <a:endParaRPr sz="1000">
                        <a:solidFill>
                          <a:srgbClr val="424242"/>
                        </a:solidFill>
                        <a:highlight>
                          <a:srgbClr val="FAFAFA"/>
                        </a:highlight>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924575">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Limitation</a:t>
                      </a:r>
                      <a:endParaRPr sz="1000">
                        <a:solidFill>
                          <a:srgbClr val="424242"/>
                        </a:solidFill>
                        <a:highlight>
                          <a:srgbClr val="FAFAFA"/>
                        </a:highlight>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Does not account for the number of predictors, which can lead to overfitting.</a:t>
                      </a:r>
                      <a:endParaRPr sz="1000">
                        <a:solidFill>
                          <a:srgbClr val="424242"/>
                        </a:solidFill>
                        <a:highlight>
                          <a:srgbClr val="FAFAFA"/>
                        </a:highlight>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1200"/>
                        </a:spcBef>
                        <a:spcAft>
                          <a:spcPts val="1800"/>
                        </a:spcAft>
                        <a:buNone/>
                      </a:pPr>
                      <a:r>
                        <a:rPr lang="en" sz="1000">
                          <a:solidFill>
                            <a:srgbClr val="424242"/>
                          </a:solidFill>
                          <a:highlight>
                            <a:srgbClr val="FAFAFA"/>
                          </a:highlight>
                          <a:latin typeface="Roboto"/>
                          <a:ea typeface="Roboto"/>
                          <a:cs typeface="Roboto"/>
                          <a:sym typeface="Roboto"/>
                        </a:rPr>
                        <a:t>Penalizes the addition of unnecessary predictors, providing a more accurate measure of model performance.</a:t>
                      </a:r>
                      <a:endParaRPr sz="1000">
                        <a:solidFill>
                          <a:srgbClr val="424242"/>
                        </a:solidFill>
                        <a:highlight>
                          <a:srgbClr val="FAFAFA"/>
                        </a:highlight>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11700" y="1402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i="1" lang="en" sz="2020">
                <a:latin typeface="Raleway"/>
                <a:ea typeface="Raleway"/>
                <a:cs typeface="Raleway"/>
                <a:sym typeface="Raleway"/>
              </a:rPr>
              <a:t>Lasso and Ridge Regression</a:t>
            </a:r>
            <a:endParaRPr b="1" i="1" sz="2020">
              <a:latin typeface="Raleway"/>
              <a:ea typeface="Raleway"/>
              <a:cs typeface="Raleway"/>
              <a:sym typeface="Raleway"/>
            </a:endParaRPr>
          </a:p>
        </p:txBody>
      </p:sp>
      <p:pic>
        <p:nvPicPr>
          <p:cNvPr id="160" name="Google Shape;160;p23"/>
          <p:cNvPicPr preferRelativeResize="0"/>
          <p:nvPr/>
        </p:nvPicPr>
        <p:blipFill>
          <a:blip r:embed="rId3">
            <a:alphaModFix/>
          </a:blip>
          <a:stretch>
            <a:fillRect/>
          </a:stretch>
        </p:blipFill>
        <p:spPr>
          <a:xfrm>
            <a:off x="4643750" y="1257675"/>
            <a:ext cx="4424050" cy="2856765"/>
          </a:xfrm>
          <a:prstGeom prst="rect">
            <a:avLst/>
          </a:prstGeom>
          <a:noFill/>
          <a:ln>
            <a:noFill/>
          </a:ln>
        </p:spPr>
      </p:pic>
      <p:graphicFrame>
        <p:nvGraphicFramePr>
          <p:cNvPr id="161" name="Google Shape;161;p23"/>
          <p:cNvGraphicFramePr/>
          <p:nvPr/>
        </p:nvGraphicFramePr>
        <p:xfrm>
          <a:off x="152400" y="921900"/>
          <a:ext cx="3000000" cy="3000000"/>
        </p:xfrm>
        <a:graphic>
          <a:graphicData uri="http://schemas.openxmlformats.org/drawingml/2006/table">
            <a:tbl>
              <a:tblPr>
                <a:solidFill>
                  <a:srgbClr val="FAFAFA"/>
                </a:solidFill>
                <a:tableStyleId>{5381A37A-1F9F-401C-B0B8-42743581B24F}</a:tableStyleId>
              </a:tblPr>
              <a:tblGrid>
                <a:gridCol w="1087350"/>
                <a:gridCol w="1583100"/>
                <a:gridCol w="1753600"/>
              </a:tblGrid>
              <a:tr h="288950">
                <a:tc>
                  <a:txBody>
                    <a:bodyPr/>
                    <a:lstStyle/>
                    <a:p>
                      <a:pPr indent="0" lvl="0" marL="0" rtl="0" algn="l">
                        <a:lnSpc>
                          <a:spcPct val="115000"/>
                        </a:lnSpc>
                        <a:spcBef>
                          <a:spcPts val="0"/>
                        </a:spcBef>
                        <a:spcAft>
                          <a:spcPts val="0"/>
                        </a:spcAft>
                        <a:buNone/>
                      </a:pPr>
                      <a:r>
                        <a:rPr b="1" lang="en" sz="900">
                          <a:solidFill>
                            <a:schemeClr val="dk1"/>
                          </a:solidFill>
                          <a:latin typeface="Roboto"/>
                          <a:ea typeface="Roboto"/>
                          <a:cs typeface="Roboto"/>
                          <a:sym typeface="Roboto"/>
                        </a:rPr>
                        <a:t>Aspect</a:t>
                      </a:r>
                      <a:endParaRPr b="1"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chemeClr val="dk1"/>
                          </a:solidFill>
                          <a:latin typeface="Roboto"/>
                          <a:ea typeface="Roboto"/>
                          <a:cs typeface="Roboto"/>
                          <a:sym typeface="Roboto"/>
                        </a:rPr>
                        <a:t>L1 Regularization (Lasso)</a:t>
                      </a:r>
                      <a:endParaRPr b="1"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chemeClr val="dk1"/>
                          </a:solidFill>
                          <a:latin typeface="Roboto"/>
                          <a:ea typeface="Roboto"/>
                          <a:cs typeface="Roboto"/>
                          <a:sym typeface="Roboto"/>
                        </a:rPr>
                        <a:t>L2 Regularization (Ridge)</a:t>
                      </a:r>
                      <a:endParaRPr b="1"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494000">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Definition</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Adds the absolute value of the coefficients as a penalty term</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Adds the squared value of the coefficients as a penalty term</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494000">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Effect</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Can produce sparse models with some coefficients set to zero</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Produces models with small but non-zero coefficients</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494000">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Use Case</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Useful for feature selection and when many features are irrelevant </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Useful when you want to keep all features but reduce the impact of less important ones</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384225">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Bias-Variance Tradeoff</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Increases bias, reduces variance</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Reduces variance, slightly increases bias</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168700">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Interpretability</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Easier to interpret due to sparsity</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Less interpretable due to non-zero coefficients</a:t>
                      </a:r>
                      <a:endParaRPr sz="900">
                        <a:solidFill>
                          <a:schemeClr val="dk1"/>
                        </a:solidFill>
                        <a:latin typeface="Roboto"/>
                        <a:ea typeface="Roboto"/>
                        <a:cs typeface="Roboto"/>
                        <a:sym typeface="Roboto"/>
                      </a:endParaRPr>
                    </a:p>
                  </a:txBody>
                  <a:tcPr marT="76200" marB="66675"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Example</a:t>
                      </a:r>
                      <a:endParaRPr sz="900">
                        <a:solidFill>
                          <a:schemeClr val="dk1"/>
                        </a:solidFill>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Lasso Regression</a:t>
                      </a:r>
                      <a:endParaRPr sz="900">
                        <a:solidFill>
                          <a:schemeClr val="dk1"/>
                        </a:solidFill>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chemeClr val="dk1"/>
                          </a:solidFill>
                          <a:latin typeface="Roboto"/>
                          <a:ea typeface="Roboto"/>
                          <a:cs typeface="Roboto"/>
                          <a:sym typeface="Roboto"/>
                        </a:rPr>
                        <a:t>Ridge Regression</a:t>
                      </a:r>
                      <a:endParaRPr sz="900">
                        <a:solidFill>
                          <a:schemeClr val="dk1"/>
                        </a:solidFill>
                        <a:latin typeface="Roboto"/>
                        <a:ea typeface="Roboto"/>
                        <a:cs typeface="Roboto"/>
                        <a:sym typeface="Roboto"/>
                      </a:endParaRPr>
                    </a:p>
                  </a:txBody>
                  <a:tcPr marT="76200" marB="57150" marR="76200" marL="114300">
                    <a:lnL cap="flat" cmpd="sng" w="8475">
                      <a:solidFill>
                        <a:srgbClr val="424242"/>
                      </a:solidFill>
                      <a:prstDash val="solid"/>
                      <a:round/>
                      <a:headEnd len="sm" w="sm" type="none"/>
                      <a:tailEnd len="sm" w="sm" type="none"/>
                    </a:lnL>
                    <a:lnR cap="flat" cmpd="sng" w="8475">
                      <a:solidFill>
                        <a:srgbClr val="424242"/>
                      </a:solidFill>
                      <a:prstDash val="solid"/>
                      <a:round/>
                      <a:headEnd len="sm" w="sm" type="none"/>
                      <a:tailEnd len="sm" w="sm" type="none"/>
                    </a:lnR>
                    <a:lnT cap="flat" cmpd="sng" w="8475">
                      <a:solidFill>
                        <a:srgbClr val="424242"/>
                      </a:solidFill>
                      <a:prstDash val="solid"/>
                      <a:round/>
                      <a:headEnd len="sm" w="sm" type="none"/>
                      <a:tailEnd len="sm" w="sm" type="none"/>
                    </a:lnT>
                    <a:lnB cap="flat" cmpd="sng" w="8475">
                      <a:solidFill>
                        <a:srgbClr val="424242"/>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Patterns in Linear Regression</a:t>
            </a:r>
            <a:endParaRPr/>
          </a:p>
        </p:txBody>
      </p:sp>
      <p:sp>
        <p:nvSpPr>
          <p:cNvPr id="167" name="Google Shape;167;p24"/>
          <p:cNvSpPr txBox="1"/>
          <p:nvPr/>
        </p:nvSpPr>
        <p:spPr>
          <a:xfrm>
            <a:off x="76200" y="609600"/>
            <a:ext cx="9042900" cy="443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 sz="900">
                <a:solidFill>
                  <a:schemeClr val="dk1"/>
                </a:solidFill>
              </a:rPr>
              <a:t>1. Random Scatter (No Pattern):</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This is the ideal pattern. Residuals are randomly scattered around zero with no discernible shape or structure.</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indicates that the assumptions of </a:t>
            </a:r>
            <a:r>
              <a:rPr b="1" lang="en" sz="900">
                <a:solidFill>
                  <a:schemeClr val="dk1"/>
                </a:solidFill>
              </a:rPr>
              <a:t>linearity</a:t>
            </a:r>
            <a:r>
              <a:rPr lang="en" sz="900">
                <a:solidFill>
                  <a:schemeClr val="dk1"/>
                </a:solidFill>
              </a:rPr>
              <a:t>, </a:t>
            </a:r>
            <a:r>
              <a:rPr b="1" lang="en" sz="900">
                <a:solidFill>
                  <a:schemeClr val="dk1"/>
                </a:solidFill>
              </a:rPr>
              <a:t>homoscedasticity</a:t>
            </a:r>
            <a:r>
              <a:rPr lang="en" sz="900">
                <a:solidFill>
                  <a:schemeClr val="dk1"/>
                </a:solidFill>
              </a:rPr>
              <a:t>, and </a:t>
            </a:r>
            <a:r>
              <a:rPr b="1" lang="en" sz="900">
                <a:solidFill>
                  <a:schemeClr val="dk1"/>
                </a:solidFill>
              </a:rPr>
              <a:t>independence</a:t>
            </a:r>
            <a:r>
              <a:rPr lang="en" sz="900">
                <a:solidFill>
                  <a:schemeClr val="dk1"/>
                </a:solidFill>
              </a:rPr>
              <a:t> of errors are met.</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good</a:t>
            </a:r>
            <a:r>
              <a:rPr lang="en" sz="900">
                <a:solidFill>
                  <a:schemeClr val="dk1"/>
                </a:solidFill>
              </a:rPr>
              <a:t>: If the residuals exhibit random scatter, it suggests that the model has captured the underlying relationship between the independent and dependent variables, and the errors are equally distributed across all levels of the predictors.</a:t>
            </a:r>
            <a:endParaRPr sz="900">
              <a:solidFill>
                <a:schemeClr val="dk1"/>
              </a:solidFill>
            </a:endParaRPr>
          </a:p>
          <a:p>
            <a:pPr indent="0" lvl="0" marL="0" rtl="0" algn="l">
              <a:lnSpc>
                <a:spcPct val="115000"/>
              </a:lnSpc>
              <a:spcBef>
                <a:spcPts val="400"/>
              </a:spcBef>
              <a:spcAft>
                <a:spcPts val="0"/>
              </a:spcAft>
              <a:buNone/>
            </a:pPr>
            <a:r>
              <a:rPr b="1" lang="en" sz="900">
                <a:solidFill>
                  <a:schemeClr val="dk1"/>
                </a:solidFill>
              </a:rPr>
              <a:t>2. Funnel or Cone Shape (Heteroscedasticity):</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As the predicted values increase, the spread of the residuals also increases (or decreases). The residuals form a funnel or cone shape.</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indicates </a:t>
            </a:r>
            <a:r>
              <a:rPr b="1" lang="en" sz="900">
                <a:solidFill>
                  <a:schemeClr val="dk1"/>
                </a:solidFill>
              </a:rPr>
              <a:t>heteroscedasticity</a:t>
            </a:r>
            <a:r>
              <a:rPr lang="en" sz="900">
                <a:solidFill>
                  <a:schemeClr val="dk1"/>
                </a:solidFill>
              </a:rPr>
              <a:t> — the variance of the residuals is not constant, which violates one of the key assumptions of linear regression.</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This means the model's error variance changes across the range of fitted values. This can affect the reliability of hypothesis tests and confidence intervals. Possible remedies include transforming the dependent variable or using weighted least squares (WLS) regression.</a:t>
            </a:r>
            <a:endParaRPr sz="900">
              <a:solidFill>
                <a:schemeClr val="dk1"/>
              </a:solidFill>
            </a:endParaRPr>
          </a:p>
          <a:p>
            <a:pPr indent="0" lvl="0" marL="0" rtl="0" algn="l">
              <a:lnSpc>
                <a:spcPct val="115000"/>
              </a:lnSpc>
              <a:spcBef>
                <a:spcPts val="400"/>
              </a:spcBef>
              <a:spcAft>
                <a:spcPts val="0"/>
              </a:spcAft>
              <a:buNone/>
            </a:pPr>
            <a:r>
              <a:rPr b="1" lang="en" sz="900">
                <a:solidFill>
                  <a:schemeClr val="dk1"/>
                </a:solidFill>
              </a:rPr>
              <a:t>3. Curved Pattern (Non-Linearity):</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A clear curve (e.g., U-shaped or inverted U-shaped) pattern in the residual plot.</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suggests </a:t>
            </a:r>
            <a:r>
              <a:rPr b="1" lang="en" sz="900">
                <a:solidFill>
                  <a:schemeClr val="dk1"/>
                </a:solidFill>
              </a:rPr>
              <a:t>non-linearity</a:t>
            </a:r>
            <a:r>
              <a:rPr lang="en" sz="900">
                <a:solidFill>
                  <a:schemeClr val="dk1"/>
                </a:solidFill>
              </a:rPr>
              <a:t> in the data. The relationship between the independent and dependent variables might not be linear, even though you’re using a linear regression model.</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If the residuals show a curve, it means that the model isn't adequately capturing the true relationship, and a linear model might not be the best choice. You may need to add polynomial terms or try a non-linear model.</a:t>
            </a:r>
            <a:endParaRPr sz="900">
              <a:solidFill>
                <a:schemeClr val="dk1"/>
              </a:solidFill>
            </a:endParaRPr>
          </a:p>
          <a:p>
            <a:pPr indent="0" lvl="0" marL="0" rtl="0" algn="l">
              <a:lnSpc>
                <a:spcPct val="115000"/>
              </a:lnSpc>
              <a:spcBef>
                <a:spcPts val="400"/>
              </a:spcBef>
              <a:spcAft>
                <a:spcPts val="0"/>
              </a:spcAft>
              <a:buNone/>
            </a:pPr>
            <a:r>
              <a:rPr b="1" lang="en" sz="900">
                <a:solidFill>
                  <a:schemeClr val="dk1"/>
                </a:solidFill>
              </a:rPr>
              <a:t>4. Fan-Shaped Pattern (Non-constant Variance):</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Similar to the funnel shape but typically with an increasing or decreasing spread that fans out or contracts as the fitted values change.</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is also a sign of </a:t>
            </a:r>
            <a:r>
              <a:rPr b="1" lang="en" sz="900">
                <a:solidFill>
                  <a:schemeClr val="dk1"/>
                </a:solidFill>
              </a:rPr>
              <a:t>heteroscedasticity</a:t>
            </a:r>
            <a:r>
              <a:rPr lang="en" sz="900">
                <a:solidFill>
                  <a:schemeClr val="dk1"/>
                </a:solidFill>
              </a:rPr>
              <a:t>, just like the funnel-shaped pattern. The variance of residuals changes as the predicted values increase or decrease.</a:t>
            </a:r>
            <a:endParaRPr sz="900">
              <a:solidFill>
                <a:schemeClr val="dk1"/>
              </a:solidFill>
            </a:endParaRPr>
          </a:p>
          <a:p>
            <a:pPr indent="-285750" lvl="0" marL="457200" rtl="0" algn="l">
              <a:lnSpc>
                <a:spcPct val="115000"/>
              </a:lnSpc>
              <a:spcBef>
                <a:spcPts val="400"/>
              </a:spcBef>
              <a:spcAft>
                <a:spcPts val="400"/>
              </a:spcAft>
              <a:buClr>
                <a:schemeClr val="dk1"/>
              </a:buClr>
              <a:buSzPts val="900"/>
              <a:buChar char="●"/>
            </a:pPr>
            <a:r>
              <a:rPr b="1" lang="en" sz="900">
                <a:solidFill>
                  <a:schemeClr val="dk1"/>
                </a:solidFill>
              </a:rPr>
              <a:t>Why it’s a problem</a:t>
            </a:r>
            <a:r>
              <a:rPr lang="en" sz="900">
                <a:solidFill>
                  <a:schemeClr val="dk1"/>
                </a:solidFill>
              </a:rPr>
              <a:t>: Again, this violates the assumption of homoscedasticity. It may suggest that the model doesn’t account for some variable or that the variance of the errors increases with the magnitude of the response.</a:t>
            </a:r>
            <a:endParaRPr sz="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idx="1" type="body"/>
          </p:nvPr>
        </p:nvSpPr>
        <p:spPr>
          <a:xfrm>
            <a:off x="311700" y="182225"/>
            <a:ext cx="8520600" cy="4825800"/>
          </a:xfrm>
          <a:prstGeom prst="rect">
            <a:avLst/>
          </a:prstGeom>
        </p:spPr>
        <p:txBody>
          <a:bodyPr anchorCtr="0" anchor="t" bIns="91425" lIns="91425" spcFirstLastPara="1" rIns="91425" wrap="square" tIns="91425">
            <a:noAutofit/>
          </a:bodyPr>
          <a:lstStyle/>
          <a:p>
            <a:pPr indent="0" lvl="0" marL="0" rtl="0" algn="l">
              <a:lnSpc>
                <a:spcPct val="115000"/>
              </a:lnSpc>
              <a:spcBef>
                <a:spcPts val="100"/>
              </a:spcBef>
              <a:spcAft>
                <a:spcPts val="0"/>
              </a:spcAft>
              <a:buClr>
                <a:schemeClr val="dk1"/>
              </a:buClr>
              <a:buSzPts val="1100"/>
              <a:buFont typeface="Arial"/>
              <a:buNone/>
            </a:pPr>
            <a:r>
              <a:rPr b="1" lang="en" sz="900">
                <a:solidFill>
                  <a:schemeClr val="dk1"/>
                </a:solidFill>
              </a:rPr>
              <a:t>5. Horizontal Bands (Outliers or Influential Points):</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The residuals form distinct horizontal bands or clusters.</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can indicate that there are </a:t>
            </a:r>
            <a:r>
              <a:rPr b="1" lang="en" sz="900">
                <a:solidFill>
                  <a:schemeClr val="dk1"/>
                </a:solidFill>
              </a:rPr>
              <a:t>outliers</a:t>
            </a:r>
            <a:r>
              <a:rPr lang="en" sz="900">
                <a:solidFill>
                  <a:schemeClr val="dk1"/>
                </a:solidFill>
              </a:rPr>
              <a:t> or </a:t>
            </a:r>
            <a:r>
              <a:rPr b="1" lang="en" sz="900">
                <a:solidFill>
                  <a:schemeClr val="dk1"/>
                </a:solidFill>
              </a:rPr>
              <a:t>influential data points</a:t>
            </a:r>
            <a:r>
              <a:rPr lang="en" sz="900">
                <a:solidFill>
                  <a:schemeClr val="dk1"/>
                </a:solidFill>
              </a:rPr>
              <a:t> in the dataset that are disproportionately affecting the model.</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Outliers can distort the fit of the regression model and affect statistical significance. It’s important to investigate these points, possibly removing or addressing them if necessary.</a:t>
            </a:r>
            <a:endParaRPr sz="9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 sz="900">
                <a:solidFill>
                  <a:schemeClr val="dk1"/>
                </a:solidFill>
              </a:rPr>
              <a:t>6. Clusters or Gaps in Residuals (Autocorrelation):</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The residuals might show clustering or gaps at certain points.</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suggests </a:t>
            </a:r>
            <a:r>
              <a:rPr b="1" lang="en" sz="900">
                <a:solidFill>
                  <a:schemeClr val="dk1"/>
                </a:solidFill>
              </a:rPr>
              <a:t>autocorrelation</a:t>
            </a:r>
            <a:r>
              <a:rPr lang="en" sz="900">
                <a:solidFill>
                  <a:schemeClr val="dk1"/>
                </a:solidFill>
              </a:rPr>
              <a:t> in the residuals, which occurs when the residuals at one observation are correlated with the residuals at another observation.</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Autocorrelation violates the assumption that the residuals are independent of each other. This can happen in time series data, where values from earlier time periods are related to later ones. If autocorrelation is present, you might need to use time series models like ARIMA or include lagged variables.</a:t>
            </a:r>
            <a:endParaRPr sz="9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 sz="900">
                <a:solidFill>
                  <a:schemeClr val="dk1"/>
                </a:solidFill>
              </a:rPr>
              <a:t>7. Point-Specific Residuals (Outliers or Leverage Points):</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Some residuals are much larger than others, or a few points are far from the main cluster.</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These points may be </a:t>
            </a:r>
            <a:r>
              <a:rPr b="1" lang="en" sz="900">
                <a:solidFill>
                  <a:schemeClr val="dk1"/>
                </a:solidFill>
              </a:rPr>
              <a:t>outliers</a:t>
            </a:r>
            <a:r>
              <a:rPr lang="en" sz="900">
                <a:solidFill>
                  <a:schemeClr val="dk1"/>
                </a:solidFill>
              </a:rPr>
              <a:t> or </a:t>
            </a:r>
            <a:r>
              <a:rPr b="1" lang="en" sz="900">
                <a:solidFill>
                  <a:schemeClr val="dk1"/>
                </a:solidFill>
              </a:rPr>
              <a:t>high-leverage points</a:t>
            </a:r>
            <a:r>
              <a:rPr lang="en" sz="900">
                <a:solidFill>
                  <a:schemeClr val="dk1"/>
                </a:solidFill>
              </a:rPr>
              <a:t>. High-leverage points are those with extreme values in the predictor variables, and outliers are those with extreme values in the response variable.</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These points can disproportionately influence the regression model and may result in biased parameter estimates. It's worth investigating these points to determine if they should be included or if the model needs to be adjusted.</a:t>
            </a:r>
            <a:endParaRPr sz="9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 sz="900">
                <a:solidFill>
                  <a:schemeClr val="dk1"/>
                </a:solidFill>
              </a:rPr>
              <a:t>8. Random Horizontal Line (Incorrect Model Form):</a:t>
            </a:r>
            <a:endParaRPr b="1"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shows</a:t>
            </a:r>
            <a:r>
              <a:rPr lang="en" sz="900">
                <a:solidFill>
                  <a:schemeClr val="dk1"/>
                </a:solidFill>
              </a:rPr>
              <a:t>: A flat horizontal line with evenly distributed residuals.</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What it indicates</a:t>
            </a:r>
            <a:r>
              <a:rPr lang="en" sz="900">
                <a:solidFill>
                  <a:schemeClr val="dk1"/>
                </a:solidFill>
              </a:rPr>
              <a:t>: This can suggest that the model is too simple or that important predictors or relationships have been omitted.</a:t>
            </a:r>
            <a:endParaRPr sz="900">
              <a:solidFill>
                <a:schemeClr val="dk1"/>
              </a:solidFill>
            </a:endParaRPr>
          </a:p>
          <a:p>
            <a:pPr indent="-285750" lvl="0" marL="457200" rtl="0" algn="l">
              <a:lnSpc>
                <a:spcPct val="115000"/>
              </a:lnSpc>
              <a:spcBef>
                <a:spcPts val="400"/>
              </a:spcBef>
              <a:spcAft>
                <a:spcPts val="0"/>
              </a:spcAft>
              <a:buClr>
                <a:schemeClr val="dk1"/>
              </a:buClr>
              <a:buSzPts val="900"/>
              <a:buChar char="●"/>
            </a:pPr>
            <a:r>
              <a:rPr b="1" lang="en" sz="900">
                <a:solidFill>
                  <a:schemeClr val="dk1"/>
                </a:solidFill>
              </a:rPr>
              <a:t>Why it’s a problem</a:t>
            </a:r>
            <a:r>
              <a:rPr lang="en" sz="900">
                <a:solidFill>
                  <a:schemeClr val="dk1"/>
                </a:solidFill>
              </a:rPr>
              <a:t>: The residuals should show some variability if the model is adequately explaining the data. A perfectly horizontal line might suggest that the model is missing key relationships between variables, and you might need to reconsider your features or transformations.</a:t>
            </a:r>
            <a:endParaRPr sz="900">
              <a:solidFill>
                <a:schemeClr val="dk1"/>
              </a:solidFill>
            </a:endParaRPr>
          </a:p>
          <a:p>
            <a:pPr indent="0" lvl="0" marL="0" rtl="0" algn="l">
              <a:lnSpc>
                <a:spcPct val="115000"/>
              </a:lnSpc>
              <a:spcBef>
                <a:spcPts val="400"/>
              </a:spcBef>
              <a:spcAft>
                <a:spcPts val="400"/>
              </a:spcAft>
              <a:buNone/>
            </a:pPr>
            <a:r>
              <a:t/>
            </a:r>
            <a:endParaRPr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Plots in Linear Regression to check Assumptions</a:t>
            </a:r>
            <a:endParaRPr/>
          </a:p>
        </p:txBody>
      </p:sp>
      <p:sp>
        <p:nvSpPr>
          <p:cNvPr id="178" name="Google Shape;17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200">
                <a:solidFill>
                  <a:schemeClr val="dk1"/>
                </a:solidFill>
              </a:rPr>
              <a:t>Scatter Plots</a:t>
            </a:r>
            <a:r>
              <a:rPr lang="en" sz="1200">
                <a:solidFill>
                  <a:schemeClr val="dk1"/>
                </a:solidFill>
              </a:rPr>
              <a:t>: Help you visually check the relationship between predictors. Strong correlations may indicate multicollinearity.</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Residuals vs. Predicted Values Plot</a:t>
            </a:r>
            <a:r>
              <a:rPr lang="en" sz="1200">
                <a:solidFill>
                  <a:schemeClr val="dk1"/>
                </a:solidFill>
              </a:rPr>
              <a:t>: Reveals potential issues with linearity and homoscedasticity. Look for random scatter around zero and constant spread.</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QQ Plot</a:t>
            </a:r>
            <a:r>
              <a:rPr lang="en" sz="1200">
                <a:solidFill>
                  <a:schemeClr val="dk1"/>
                </a:solidFill>
              </a:rPr>
              <a:t>: Checks if residuals follow a normal distribution. If they deviate from the line, it indicates non-normality.</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Histogram of Residuals</a:t>
            </a:r>
            <a:r>
              <a:rPr lang="en" sz="1200">
                <a:solidFill>
                  <a:schemeClr val="dk1"/>
                </a:solidFill>
              </a:rPr>
              <a:t>: Another check for normality. A bell-shaped histogram indicates normal residuals.</a:t>
            </a:r>
            <a:endParaRPr sz="1200">
              <a:solidFill>
                <a:schemeClr val="dk1"/>
              </a:solidFill>
            </a:endParaRPr>
          </a:p>
          <a:p>
            <a:pPr indent="0" lvl="0" marL="0" rtl="0" algn="l">
              <a:spcBef>
                <a:spcPts val="1200"/>
              </a:spcBef>
              <a:spcAft>
                <a:spcPts val="1200"/>
              </a:spcAft>
              <a:buNone/>
            </a:pPr>
            <a:r>
              <a:rPr b="1" lang="en" sz="1200">
                <a:solidFill>
                  <a:schemeClr val="dk1"/>
                </a:solidFill>
              </a:rPr>
              <a:t>Correlation Matrix</a:t>
            </a:r>
            <a:r>
              <a:rPr lang="en" sz="1200">
                <a:solidFill>
                  <a:schemeClr val="dk1"/>
                </a:solidFill>
              </a:rPr>
              <a:t>: Helps identify multicollinearity. High correlation between predictors suggests potential issues with model stability.</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