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5143500" cx="9144000"/>
  <p:notesSz cx="6858000" cy="9144000"/>
  <p:embeddedFontLst>
    <p:embeddedFont>
      <p:font typeface="Average"/>
      <p:regular r:id="rId36"/>
    </p:embeddedFont>
    <p:embeddedFont>
      <p:font typeface="Oswald"/>
      <p:regular r:id="rId37"/>
      <p:bold r:id="rId38"/>
    </p:embeddedFont>
    <p:embeddedFont>
      <p:font typeface="Roboto Mono"/>
      <p:regular r:id="rId39"/>
      <p:bold r:id="rId40"/>
      <p:italic r:id="rId41"/>
      <p:boldItalic r:id="rId4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 name="Shishir U Shrivastava"/>
  <p:cmAuthor clrIdx="1" id="1" initials="" lastIdx="1" name="Vachas Ketan Shah"/>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Mono-bold.fntdata"/><Relationship Id="rId20" Type="http://schemas.openxmlformats.org/officeDocument/2006/relationships/slide" Target="slides/slide14.xml"/><Relationship Id="rId42" Type="http://schemas.openxmlformats.org/officeDocument/2006/relationships/font" Target="fonts/RobotoMono-boldItalic.fntdata"/><Relationship Id="rId41" Type="http://schemas.openxmlformats.org/officeDocument/2006/relationships/font" Target="fonts/RobotoMono-italic.fntdata"/><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Oswald-regular.fntdata"/><Relationship Id="rId14" Type="http://schemas.openxmlformats.org/officeDocument/2006/relationships/slide" Target="slides/slide8.xml"/><Relationship Id="rId36" Type="http://schemas.openxmlformats.org/officeDocument/2006/relationships/font" Target="fonts/Average-regular.fntdata"/><Relationship Id="rId17" Type="http://schemas.openxmlformats.org/officeDocument/2006/relationships/slide" Target="slides/slide11.xml"/><Relationship Id="rId39" Type="http://schemas.openxmlformats.org/officeDocument/2006/relationships/font" Target="fonts/RobotoMono-regular.fntdata"/><Relationship Id="rId16" Type="http://schemas.openxmlformats.org/officeDocument/2006/relationships/slide" Target="slides/slide10.xml"/><Relationship Id="rId38" Type="http://schemas.openxmlformats.org/officeDocument/2006/relationships/font" Target="fonts/Oswald-bold.fntdata"/><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5-01-17T05:46:43.522">
    <p:pos x="196" y="629"/>
    <p:text>@vachas.shah@accionlabs.com - Keep the validation screenshot</p:text>
  </p:cm>
  <p:cm authorId="1" idx="1" dt="2025-01-17T05:46:43.522">
    <p:pos x="196" y="629"/>
    <p:text>Ok</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c6f980f9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c6f980f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c6f980f9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c6f980f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c6f980f91_0_2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c6f980f91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22d165109d_0_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22d165109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27da55f08c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27da55f08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c6f980f91_0_3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c6f980f91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22f87593ca_1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22f87593c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22f87593ca_1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22f87593ca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232a3c2b5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232a3c2b5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232a3c2b5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232a3c2b5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232a3c2b5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232a3c2b5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232a3c2b5d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232a3c2b5d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232a3c2b5d_0_19: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232a3c2b5d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232a3c2b5d_0_31: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232a3c2b5d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232a3c2b5d_0_3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232a3c2b5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232a3c2b5d_0_44: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232a3c2b5d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232a3c2b5d_0_5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232a3c2b5d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232a3c2b5d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232a3c2b5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232a3c2b5d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232a3c2b5d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2368e2ec84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2368e2ec84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2368e2ec8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2368e2ec8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2368e2ec8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2368e2ec8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2368e2ec8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2368e2ec8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2368e2ec84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2368e2ec84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2368e2ec84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2368e2ec84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2368e2ec84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2368e2ec84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2368e2ec84_0_5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2368e2ec84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329ec0a9c9d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329ec0a9c9d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2368e2ec8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2368e2ec8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grpSp>
        <p:nvGrpSpPr>
          <p:cNvPr id="10" name="Google Shape;10;p2"/>
          <p:cNvGrpSpPr/>
          <p:nvPr/>
        </p:nvGrpSpPr>
        <p:grpSpPr>
          <a:xfrm>
            <a:off x="4350279" y="2855377"/>
            <a:ext cx="443589" cy="105632"/>
            <a:chOff x="4137525" y="2915950"/>
            <a:chExt cx="869100" cy="207000"/>
          </a:xfrm>
        </p:grpSpPr>
        <p:sp>
          <p:nvSpPr>
            <p:cNvPr id="11" name="Google Shape;11;p2"/>
            <p:cNvSpPr/>
            <p:nvPr/>
          </p:nvSpPr>
          <p:spPr>
            <a:xfrm>
              <a:off x="446857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47996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4137525" y="2915950"/>
              <a:ext cx="207000" cy="207000"/>
            </a:xfrm>
            <a:prstGeom prst="ellips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5" name="Google Shape;15;p2"/>
          <p:cNvSpPr txBox="1"/>
          <p:nvPr>
            <p:ph idx="1" type="subTitle"/>
          </p:nvPr>
        </p:nvSpPr>
        <p:spPr>
          <a:xfrm>
            <a:off x="671250" y="3174876"/>
            <a:ext cx="78015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6" name="Google Shape;16;p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
          <p:cNvSpPr txBox="1"/>
          <p:nvPr>
            <p:ph type="title"/>
          </p:nvPr>
        </p:nvSpPr>
        <p:spPr>
          <a:xfrm>
            <a:off x="671250" y="2141250"/>
            <a:ext cx="7852200" cy="8610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sp>
        <p:nvSpPr>
          <p:cNvPr id="21" name="Google Shape;21;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2" name="Google Shape;22;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3" name="Google Shape;23;p4"/>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4" name="Shape 24"/>
        <p:cNvGrpSpPr/>
        <p:nvPr/>
      </p:nvGrpSpPr>
      <p:grpSpPr>
        <a:xfrm>
          <a:off x="0" y="0"/>
          <a:ext cx="0" cy="0"/>
          <a:chOff x="0" y="0"/>
          <a:chExt cx="0" cy="0"/>
        </a:xfrm>
      </p:grpSpPr>
      <p:sp>
        <p:nvSpPr>
          <p:cNvPr id="25" name="Google Shape;25;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7" name="Google Shape;27;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8" name="Google Shape;28;p5"/>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9" name="Shape 29"/>
        <p:cNvGrpSpPr/>
        <p:nvPr/>
      </p:nvGrpSpPr>
      <p:grpSpPr>
        <a:xfrm>
          <a:off x="0" y="0"/>
          <a:ext cx="0" cy="0"/>
          <a:chOff x="0" y="0"/>
          <a:chExt cx="0" cy="0"/>
        </a:xfrm>
      </p:grpSpPr>
      <p:sp>
        <p:nvSpPr>
          <p:cNvPr id="30" name="Google Shape;30;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6"/>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2" name="Shape 32"/>
        <p:cNvGrpSpPr/>
        <p:nvPr/>
      </p:nvGrpSpPr>
      <p:grpSpPr>
        <a:xfrm>
          <a:off x="0" y="0"/>
          <a:ext cx="0" cy="0"/>
          <a:chOff x="0" y="0"/>
          <a:chExt cx="0" cy="0"/>
        </a:xfrm>
      </p:grpSpPr>
      <p:sp>
        <p:nvSpPr>
          <p:cNvPr id="33" name="Google Shape;33;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4" name="Google Shape;34;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5" name="Google Shape;35;p7"/>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6" name="Shape 36"/>
        <p:cNvGrpSpPr/>
        <p:nvPr/>
      </p:nvGrpSpPr>
      <p:grpSpPr>
        <a:xfrm>
          <a:off x="0" y="0"/>
          <a:ext cx="0" cy="0"/>
          <a:chOff x="0" y="0"/>
          <a:chExt cx="0" cy="0"/>
        </a:xfrm>
      </p:grpSpPr>
      <p:sp>
        <p:nvSpPr>
          <p:cNvPr id="37" name="Google Shape;37;p8"/>
          <p:cNvSpPr txBox="1"/>
          <p:nvPr>
            <p:ph type="title"/>
          </p:nvPr>
        </p:nvSpPr>
        <p:spPr>
          <a:xfrm>
            <a:off x="490250" y="526350"/>
            <a:ext cx="62271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8" name="Google Shape;38;p8"/>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9" name="Shape 39"/>
        <p:cNvGrpSpPr/>
        <p:nvPr/>
      </p:nvGrpSpPr>
      <p:grpSpPr>
        <a:xfrm>
          <a:off x="0" y="0"/>
          <a:ext cx="0" cy="0"/>
          <a:chOff x="0" y="0"/>
          <a:chExt cx="0" cy="0"/>
        </a:xfrm>
      </p:grpSpPr>
      <p:sp>
        <p:nvSpPr>
          <p:cNvPr id="40" name="Google Shape;40;p9"/>
          <p:cNvSpPr/>
          <p:nvPr/>
        </p:nvSpPr>
        <p:spPr>
          <a:xfrm>
            <a:off x="457200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1" name="Google Shape;41;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2" name="Google Shape;42;p9"/>
          <p:cNvSpPr txBox="1"/>
          <p:nvPr>
            <p:ph type="title"/>
          </p:nvPr>
        </p:nvSpPr>
        <p:spPr>
          <a:xfrm>
            <a:off x="265500" y="1081400"/>
            <a:ext cx="4045200" cy="1710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43" name="Google Shape;43;p9"/>
          <p:cNvSpPr txBox="1"/>
          <p:nvPr>
            <p:ph idx="1" type="subTitle"/>
          </p:nvPr>
        </p:nvSpPr>
        <p:spPr>
          <a:xfrm>
            <a:off x="265500" y="28452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dk1"/>
              </a:buClr>
              <a:buSzPts val="2100"/>
              <a:buNone/>
              <a:defRPr sz="2100">
                <a:solidFill>
                  <a:schemeClr val="dk1"/>
                </a:solidFill>
              </a:defRPr>
            </a:lvl1pPr>
            <a:lvl2pPr lvl="1" algn="ctr">
              <a:lnSpc>
                <a:spcPct val="100000"/>
              </a:lnSpc>
              <a:spcBef>
                <a:spcPts val="0"/>
              </a:spcBef>
              <a:spcAft>
                <a:spcPts val="0"/>
              </a:spcAft>
              <a:buClr>
                <a:schemeClr val="dk1"/>
              </a:buClr>
              <a:buSzPts val="2100"/>
              <a:buNone/>
              <a:defRPr sz="2100">
                <a:solidFill>
                  <a:schemeClr val="dk1"/>
                </a:solidFill>
              </a:defRPr>
            </a:lvl2pPr>
            <a:lvl3pPr lvl="2" algn="ctr">
              <a:lnSpc>
                <a:spcPct val="100000"/>
              </a:lnSpc>
              <a:spcBef>
                <a:spcPts val="0"/>
              </a:spcBef>
              <a:spcAft>
                <a:spcPts val="0"/>
              </a:spcAft>
              <a:buClr>
                <a:schemeClr val="dk1"/>
              </a:buClr>
              <a:buSzPts val="2100"/>
              <a:buNone/>
              <a:defRPr sz="2100">
                <a:solidFill>
                  <a:schemeClr val="dk1"/>
                </a:solidFill>
              </a:defRPr>
            </a:lvl3pPr>
            <a:lvl4pPr lvl="3" algn="ctr">
              <a:lnSpc>
                <a:spcPct val="100000"/>
              </a:lnSpc>
              <a:spcBef>
                <a:spcPts val="0"/>
              </a:spcBef>
              <a:spcAft>
                <a:spcPts val="0"/>
              </a:spcAft>
              <a:buClr>
                <a:schemeClr val="dk1"/>
              </a:buClr>
              <a:buSzPts val="2100"/>
              <a:buNone/>
              <a:defRPr sz="2100">
                <a:solidFill>
                  <a:schemeClr val="dk1"/>
                </a:solidFill>
              </a:defRPr>
            </a:lvl4pPr>
            <a:lvl5pPr lvl="4" algn="ctr">
              <a:lnSpc>
                <a:spcPct val="100000"/>
              </a:lnSpc>
              <a:spcBef>
                <a:spcPts val="0"/>
              </a:spcBef>
              <a:spcAft>
                <a:spcPts val="0"/>
              </a:spcAft>
              <a:buClr>
                <a:schemeClr val="dk1"/>
              </a:buClr>
              <a:buSzPts val="2100"/>
              <a:buNone/>
              <a:defRPr sz="2100">
                <a:solidFill>
                  <a:schemeClr val="dk1"/>
                </a:solidFill>
              </a:defRPr>
            </a:lvl5pPr>
            <a:lvl6pPr lvl="5" algn="ctr">
              <a:lnSpc>
                <a:spcPct val="100000"/>
              </a:lnSpc>
              <a:spcBef>
                <a:spcPts val="0"/>
              </a:spcBef>
              <a:spcAft>
                <a:spcPts val="0"/>
              </a:spcAft>
              <a:buClr>
                <a:schemeClr val="dk1"/>
              </a:buClr>
              <a:buSzPts val="2100"/>
              <a:buNone/>
              <a:defRPr sz="2100">
                <a:solidFill>
                  <a:schemeClr val="dk1"/>
                </a:solidFill>
              </a:defRPr>
            </a:lvl6pPr>
            <a:lvl7pPr lvl="6" algn="ctr">
              <a:lnSpc>
                <a:spcPct val="100000"/>
              </a:lnSpc>
              <a:spcBef>
                <a:spcPts val="0"/>
              </a:spcBef>
              <a:spcAft>
                <a:spcPts val="0"/>
              </a:spcAft>
              <a:buClr>
                <a:schemeClr val="dk1"/>
              </a:buClr>
              <a:buSzPts val="2100"/>
              <a:buNone/>
              <a:defRPr sz="2100">
                <a:solidFill>
                  <a:schemeClr val="dk1"/>
                </a:solidFill>
              </a:defRPr>
            </a:lvl7pPr>
            <a:lvl8pPr lvl="7" algn="ctr">
              <a:lnSpc>
                <a:spcPct val="100000"/>
              </a:lnSpc>
              <a:spcBef>
                <a:spcPts val="0"/>
              </a:spcBef>
              <a:spcAft>
                <a:spcPts val="0"/>
              </a:spcAft>
              <a:buClr>
                <a:schemeClr val="dk1"/>
              </a:buClr>
              <a:buSzPts val="2100"/>
              <a:buNone/>
              <a:defRPr sz="2100">
                <a:solidFill>
                  <a:schemeClr val="dk1"/>
                </a:solidFill>
              </a:defRPr>
            </a:lvl8pPr>
            <a:lvl9pPr lvl="8" algn="ctr">
              <a:lnSpc>
                <a:spcPct val="100000"/>
              </a:lnSpc>
              <a:spcBef>
                <a:spcPts val="0"/>
              </a:spcBef>
              <a:spcAft>
                <a:spcPts val="0"/>
              </a:spcAft>
              <a:buClr>
                <a:schemeClr val="dk1"/>
              </a:buClr>
              <a:buSzPts val="2100"/>
              <a:buNone/>
              <a:defRPr sz="2100">
                <a:solidFill>
                  <a:schemeClr val="dk1"/>
                </a:solidFill>
              </a:defRPr>
            </a:lvl9pPr>
          </a:lstStyle>
          <a:p/>
        </p:txBody>
      </p:sp>
      <p:sp>
        <p:nvSpPr>
          <p:cNvPr id="44" name="Google Shape;44;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5" name="Google Shape;45;p9"/>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 name="Shape 46"/>
        <p:cNvGrpSpPr/>
        <p:nvPr/>
      </p:nvGrpSpPr>
      <p:grpSpPr>
        <a:xfrm>
          <a:off x="0" y="0"/>
          <a:ext cx="0" cy="0"/>
          <a:chOff x="0" y="0"/>
          <a:chExt cx="0" cy="0"/>
        </a:xfrm>
      </p:grpSpPr>
      <p:sp>
        <p:nvSpPr>
          <p:cNvPr id="47" name="Google Shape;47;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Clr>
                <a:schemeClr val="dk1"/>
              </a:buClr>
              <a:buSzPts val="2100"/>
              <a:buFont typeface="Oswald"/>
              <a:buNone/>
              <a:defRPr sz="2100">
                <a:solidFill>
                  <a:schemeClr val="dk1"/>
                </a:solidFill>
                <a:latin typeface="Oswald"/>
                <a:ea typeface="Oswald"/>
                <a:cs typeface="Oswald"/>
                <a:sym typeface="Oswald"/>
              </a:defRPr>
            </a:lvl1pPr>
          </a:lstStyle>
          <a:p/>
        </p:txBody>
      </p:sp>
      <p:sp>
        <p:nvSpPr>
          <p:cNvPr id="48" name="Google Shape;48;p10"/>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9" name="Shape 49"/>
        <p:cNvGrpSpPr/>
        <p:nvPr/>
      </p:nvGrpSpPr>
      <p:grpSpPr>
        <a:xfrm>
          <a:off x="0" y="0"/>
          <a:ext cx="0" cy="0"/>
          <a:chOff x="0" y="0"/>
          <a:chExt cx="0" cy="0"/>
        </a:xfrm>
      </p:grpSpPr>
      <p:sp>
        <p:nvSpPr>
          <p:cNvPr id="50" name="Google Shape;50;p11"/>
          <p:cNvSpPr txBox="1"/>
          <p:nvPr>
            <p:ph hasCustomPrompt="1" type="title"/>
          </p:nvPr>
        </p:nvSpPr>
        <p:spPr>
          <a:xfrm>
            <a:off x="311700" y="1255275"/>
            <a:ext cx="8520600" cy="18906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1" name="Google Shape;51;p11"/>
          <p:cNvSpPr txBox="1"/>
          <p:nvPr>
            <p:ph idx="1" type="body"/>
          </p:nvPr>
        </p:nvSpPr>
        <p:spPr>
          <a:xfrm>
            <a:off x="311700" y="32284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2" name="Google Shape;52;p11"/>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12"/>
          <p:cNvSpPr txBox="1"/>
          <p:nvPr>
            <p:ph idx="12" type="sldNum"/>
          </p:nvPr>
        </p:nvSpPr>
        <p:spPr>
          <a:xfrm>
            <a:off x="8490250" y="468100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1pPr>
            <a:lvl2pPr lvl="1">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2pPr>
            <a:lvl3pPr lvl="2">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3pPr>
            <a:lvl4pPr lvl="3">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4pPr>
            <a:lvl5pPr lvl="4">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5pPr>
            <a:lvl6pPr lvl="5">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6pPr>
            <a:lvl7pPr lvl="6">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7pPr>
            <a:lvl8pPr lvl="7">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8pPr>
            <a:lvl9pPr lvl="8">
              <a:spcBef>
                <a:spcPts val="0"/>
              </a:spcBef>
              <a:spcAft>
                <a:spcPts val="0"/>
              </a:spcAft>
              <a:buClr>
                <a:schemeClr val="dk1"/>
              </a:buClr>
              <a:buSzPts val="3000"/>
              <a:buFont typeface="Oswald"/>
              <a:buNone/>
              <a:defRPr sz="3000">
                <a:solidFill>
                  <a:schemeClr val="dk1"/>
                </a:solidFill>
                <a:latin typeface="Oswald"/>
                <a:ea typeface="Oswald"/>
                <a:cs typeface="Oswald"/>
                <a:sym typeface="Oswald"/>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accent3"/>
              </a:buClr>
              <a:buSzPts val="1800"/>
              <a:buFont typeface="Average"/>
              <a:buChar char="●"/>
              <a:defRPr sz="1800">
                <a:solidFill>
                  <a:schemeClr val="accent3"/>
                </a:solidFill>
                <a:latin typeface="Average"/>
                <a:ea typeface="Average"/>
                <a:cs typeface="Average"/>
                <a:sym typeface="Average"/>
              </a:defRPr>
            </a:lvl1pPr>
            <a:lvl2pPr indent="-317500" lvl="1" marL="914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2pPr>
            <a:lvl3pPr indent="-317500" lvl="2" marL="1371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3pPr>
            <a:lvl4pPr indent="-317500" lvl="3" marL="18288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4pPr>
            <a:lvl5pPr indent="-317500" lvl="4" marL="22860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5pPr>
            <a:lvl6pPr indent="-317500" lvl="5" marL="27432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6pPr>
            <a:lvl7pPr indent="-317500" lvl="6" marL="32004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7pPr>
            <a:lvl8pPr indent="-317500" lvl="7" marL="3657600">
              <a:lnSpc>
                <a:spcPct val="115000"/>
              </a:lnSpc>
              <a:spcBef>
                <a:spcPts val="1600"/>
              </a:spcBef>
              <a:spcAft>
                <a:spcPts val="0"/>
              </a:spcAft>
              <a:buClr>
                <a:schemeClr val="accent3"/>
              </a:buClr>
              <a:buSzPts val="1400"/>
              <a:buFont typeface="Average"/>
              <a:buChar char="○"/>
              <a:defRPr>
                <a:solidFill>
                  <a:schemeClr val="accent3"/>
                </a:solidFill>
                <a:latin typeface="Average"/>
                <a:ea typeface="Average"/>
                <a:cs typeface="Average"/>
                <a:sym typeface="Average"/>
              </a:defRPr>
            </a:lvl8pPr>
            <a:lvl9pPr indent="-317500" lvl="8" marL="4114800">
              <a:lnSpc>
                <a:spcPct val="115000"/>
              </a:lnSpc>
              <a:spcBef>
                <a:spcPts val="1600"/>
              </a:spcBef>
              <a:spcAft>
                <a:spcPts val="1600"/>
              </a:spcAft>
              <a:buClr>
                <a:schemeClr val="accent3"/>
              </a:buClr>
              <a:buSzPts val="1400"/>
              <a:buFont typeface="Average"/>
              <a:buChar char="■"/>
              <a:defRPr>
                <a:solidFill>
                  <a:schemeClr val="accent3"/>
                </a:solidFill>
                <a:latin typeface="Average"/>
                <a:ea typeface="Average"/>
                <a:cs typeface="Average"/>
                <a:sym typeface="Average"/>
              </a:defRPr>
            </a:lvl9pPr>
          </a:lstStyle>
          <a:p/>
        </p:txBody>
      </p:sp>
      <p:sp>
        <p:nvSpPr>
          <p:cNvPr id="8" name="Google Shape;8;p1"/>
          <p:cNvSpPr txBox="1"/>
          <p:nvPr>
            <p:ph idx="12" type="sldNum"/>
          </p:nvPr>
        </p:nvSpPr>
        <p:spPr>
          <a:xfrm>
            <a:off x="8490250" y="468100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3"/>
                </a:solidFill>
                <a:latin typeface="Average"/>
                <a:ea typeface="Average"/>
                <a:cs typeface="Average"/>
                <a:sym typeface="Average"/>
              </a:defRPr>
            </a:lvl1pPr>
            <a:lvl2pPr lvl="1" algn="r">
              <a:buNone/>
              <a:defRPr sz="1000">
                <a:solidFill>
                  <a:schemeClr val="accent3"/>
                </a:solidFill>
                <a:latin typeface="Average"/>
                <a:ea typeface="Average"/>
                <a:cs typeface="Average"/>
                <a:sym typeface="Average"/>
              </a:defRPr>
            </a:lvl2pPr>
            <a:lvl3pPr lvl="2" algn="r">
              <a:buNone/>
              <a:defRPr sz="1000">
                <a:solidFill>
                  <a:schemeClr val="accent3"/>
                </a:solidFill>
                <a:latin typeface="Average"/>
                <a:ea typeface="Average"/>
                <a:cs typeface="Average"/>
                <a:sym typeface="Average"/>
              </a:defRPr>
            </a:lvl3pPr>
            <a:lvl4pPr lvl="3" algn="r">
              <a:buNone/>
              <a:defRPr sz="1000">
                <a:solidFill>
                  <a:schemeClr val="accent3"/>
                </a:solidFill>
                <a:latin typeface="Average"/>
                <a:ea typeface="Average"/>
                <a:cs typeface="Average"/>
                <a:sym typeface="Average"/>
              </a:defRPr>
            </a:lvl4pPr>
            <a:lvl5pPr lvl="4" algn="r">
              <a:buNone/>
              <a:defRPr sz="1000">
                <a:solidFill>
                  <a:schemeClr val="accent3"/>
                </a:solidFill>
                <a:latin typeface="Average"/>
                <a:ea typeface="Average"/>
                <a:cs typeface="Average"/>
                <a:sym typeface="Average"/>
              </a:defRPr>
            </a:lvl5pPr>
            <a:lvl6pPr lvl="5" algn="r">
              <a:buNone/>
              <a:defRPr sz="1000">
                <a:solidFill>
                  <a:schemeClr val="accent3"/>
                </a:solidFill>
                <a:latin typeface="Average"/>
                <a:ea typeface="Average"/>
                <a:cs typeface="Average"/>
                <a:sym typeface="Average"/>
              </a:defRPr>
            </a:lvl6pPr>
            <a:lvl7pPr lvl="6" algn="r">
              <a:buNone/>
              <a:defRPr sz="1000">
                <a:solidFill>
                  <a:schemeClr val="accent3"/>
                </a:solidFill>
                <a:latin typeface="Average"/>
                <a:ea typeface="Average"/>
                <a:cs typeface="Average"/>
                <a:sym typeface="Average"/>
              </a:defRPr>
            </a:lvl7pPr>
            <a:lvl8pPr lvl="7" algn="r">
              <a:buNone/>
              <a:defRPr sz="1000">
                <a:solidFill>
                  <a:schemeClr val="accent3"/>
                </a:solidFill>
                <a:latin typeface="Average"/>
                <a:ea typeface="Average"/>
                <a:cs typeface="Average"/>
                <a:sym typeface="Average"/>
              </a:defRPr>
            </a:lvl8pPr>
            <a:lvl9pPr lvl="8" algn="r">
              <a:buNone/>
              <a:defRPr sz="1000">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9.png"/><Relationship Id="rId5"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1.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3"/>
          <p:cNvSpPr txBox="1"/>
          <p:nvPr>
            <p:ph type="ctrTitle"/>
          </p:nvPr>
        </p:nvSpPr>
        <p:spPr>
          <a:xfrm>
            <a:off x="671258" y="990800"/>
            <a:ext cx="7801500" cy="17301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Vrinda Store Data Analysis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Overview</a:t>
            </a:r>
            <a:endParaRPr/>
          </a:p>
        </p:txBody>
      </p:sp>
      <p:sp>
        <p:nvSpPr>
          <p:cNvPr id="65" name="Google Shape;65;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solidFill>
                  <a:schemeClr val="dk1"/>
                </a:solidFill>
              </a:rPr>
              <a:t>The dataset for Vrinda Store (2022) includes customer information related to clothing product purchases. It provides insights into customer demographics, purchase behaviors, and preferences, allowing for segmentation and targeted marketing strategies.</a:t>
            </a:r>
            <a:endParaRPr sz="1600">
              <a:solidFill>
                <a:schemeClr val="dk1"/>
              </a:solidFill>
            </a:endParaRPr>
          </a:p>
          <a:p>
            <a:pPr indent="0" lvl="0" marL="0" rtl="0" algn="l">
              <a:spcBef>
                <a:spcPts val="1600"/>
              </a:spcBef>
              <a:spcAft>
                <a:spcPts val="0"/>
              </a:spcAft>
              <a:buNone/>
            </a:pPr>
            <a:r>
              <a:rPr lang="en" sz="1600">
                <a:solidFill>
                  <a:schemeClr val="dk1"/>
                </a:solidFill>
              </a:rPr>
              <a:t>Topics covered :</a:t>
            </a:r>
            <a:endParaRPr sz="1600">
              <a:solidFill>
                <a:schemeClr val="dk1"/>
              </a:solidFill>
            </a:endParaRPr>
          </a:p>
          <a:p>
            <a:pPr indent="457200" lvl="0" marL="0" rtl="0" algn="l">
              <a:spcBef>
                <a:spcPts val="1600"/>
              </a:spcBef>
              <a:spcAft>
                <a:spcPts val="0"/>
              </a:spcAft>
              <a:buNone/>
            </a:pPr>
            <a:r>
              <a:rPr lang="en" sz="1600">
                <a:solidFill>
                  <a:schemeClr val="dk1"/>
                </a:solidFill>
              </a:rPr>
              <a:t>Size of the Data </a:t>
            </a:r>
            <a:endParaRPr sz="1600">
              <a:solidFill>
                <a:schemeClr val="dk1"/>
              </a:solidFill>
            </a:endParaRPr>
          </a:p>
          <a:p>
            <a:pPr indent="457200" lvl="0" marL="0" rtl="0" algn="l">
              <a:spcBef>
                <a:spcPts val="0"/>
              </a:spcBef>
              <a:spcAft>
                <a:spcPts val="0"/>
              </a:spcAft>
              <a:buNone/>
            </a:pPr>
            <a:r>
              <a:rPr lang="en" sz="1600">
                <a:solidFill>
                  <a:schemeClr val="dk1"/>
                </a:solidFill>
              </a:rPr>
              <a:t>Data Residing Location</a:t>
            </a:r>
            <a:endParaRPr sz="1600">
              <a:solidFill>
                <a:schemeClr val="dk1"/>
              </a:solidFill>
            </a:endParaRPr>
          </a:p>
          <a:p>
            <a:pPr indent="0" lvl="0" marL="457200" rtl="0" algn="l">
              <a:spcBef>
                <a:spcPts val="0"/>
              </a:spcBef>
              <a:spcAft>
                <a:spcPts val="0"/>
              </a:spcAft>
              <a:buNone/>
            </a:pPr>
            <a:r>
              <a:rPr lang="en" sz="1600">
                <a:solidFill>
                  <a:schemeClr val="dk1"/>
                </a:solidFill>
              </a:rPr>
              <a:t>Data Cleaning</a:t>
            </a:r>
            <a:endParaRPr sz="1600">
              <a:solidFill>
                <a:schemeClr val="dk1"/>
              </a:solidFill>
            </a:endParaRPr>
          </a:p>
          <a:p>
            <a:pPr indent="0" lvl="0" marL="457200" rtl="0" algn="l">
              <a:spcBef>
                <a:spcPts val="0"/>
              </a:spcBef>
              <a:spcAft>
                <a:spcPts val="0"/>
              </a:spcAft>
              <a:buNone/>
            </a:pPr>
            <a:r>
              <a:rPr lang="en" sz="1600">
                <a:solidFill>
                  <a:schemeClr val="dk1"/>
                </a:solidFill>
              </a:rPr>
              <a:t>Data Processing </a:t>
            </a:r>
            <a:endParaRPr sz="1600">
              <a:solidFill>
                <a:schemeClr val="dk1"/>
              </a:solidFill>
            </a:endParaRPr>
          </a:p>
          <a:p>
            <a:pPr indent="0" lvl="0" marL="457200" rtl="0" algn="l">
              <a:spcBef>
                <a:spcPts val="0"/>
              </a:spcBef>
              <a:spcAft>
                <a:spcPts val="0"/>
              </a:spcAft>
              <a:buNone/>
            </a:pPr>
            <a:r>
              <a:rPr lang="en" sz="1600">
                <a:solidFill>
                  <a:schemeClr val="dk1"/>
                </a:solidFill>
              </a:rPr>
              <a:t>Data Insights and Data Insights based on Graphs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1600"/>
              </a:spcBef>
              <a:spcAft>
                <a:spcPts val="1600"/>
              </a:spcAft>
              <a:buNone/>
            </a:pPr>
            <a:r>
              <a:t/>
            </a:r>
            <a:endParaRPr sz="16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sp>
        <p:nvSpPr>
          <p:cNvPr id="70" name="Google Shape;70;p15"/>
          <p:cNvSpPr txBox="1"/>
          <p:nvPr>
            <p:ph type="title"/>
          </p:nvPr>
        </p:nvSpPr>
        <p:spPr>
          <a:xfrm>
            <a:off x="499850" y="526350"/>
            <a:ext cx="7690500" cy="4090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Project objective:</a:t>
            </a:r>
            <a:endParaRPr b="1" sz="4200"/>
          </a:p>
          <a:p>
            <a:pPr indent="0" lvl="0" marL="0" rtl="0" algn="l">
              <a:spcBef>
                <a:spcPts val="0"/>
              </a:spcBef>
              <a:spcAft>
                <a:spcPts val="0"/>
              </a:spcAft>
              <a:buNone/>
            </a:pPr>
            <a:r>
              <a:rPr b="1" lang="en" sz="2200"/>
              <a:t> </a:t>
            </a:r>
            <a:endParaRPr b="1" sz="2200"/>
          </a:p>
          <a:p>
            <a:pPr indent="0" lvl="0" marL="0" rtl="0" algn="l">
              <a:spcBef>
                <a:spcPts val="0"/>
              </a:spcBef>
              <a:spcAft>
                <a:spcPts val="0"/>
              </a:spcAft>
              <a:buNone/>
            </a:pPr>
            <a:r>
              <a:rPr lang="en" sz="3500">
                <a:latin typeface="Average"/>
                <a:ea typeface="Average"/>
                <a:cs typeface="Average"/>
                <a:sym typeface="Average"/>
              </a:rPr>
              <a:t>P</a:t>
            </a:r>
            <a:r>
              <a:rPr lang="en" sz="3500">
                <a:latin typeface="Average"/>
                <a:ea typeface="Average"/>
                <a:cs typeface="Average"/>
                <a:sym typeface="Average"/>
              </a:rPr>
              <a:t>redict the sales for the next 6 months. </a:t>
            </a:r>
            <a:endParaRPr sz="3500">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Size of the Data:</a:t>
            </a:r>
            <a:endParaRPr/>
          </a:p>
        </p:txBody>
      </p:sp>
      <p:sp>
        <p:nvSpPr>
          <p:cNvPr id="76" name="Google Shape;76;p16"/>
          <p:cNvSpPr txBox="1"/>
          <p:nvPr>
            <p:ph idx="1" type="body"/>
          </p:nvPr>
        </p:nvSpPr>
        <p:spPr>
          <a:xfrm>
            <a:off x="2693850" y="563850"/>
            <a:ext cx="3756300" cy="949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1600">
                <a:solidFill>
                  <a:schemeClr val="dk1"/>
                </a:solidFill>
              </a:rPr>
              <a:t>Total Number of Columns : 19 </a:t>
            </a:r>
            <a:endParaRPr sz="1600">
              <a:solidFill>
                <a:schemeClr val="dk1"/>
              </a:solidFill>
            </a:endParaRPr>
          </a:p>
          <a:p>
            <a:pPr indent="0" lvl="0" marL="0" rtl="0" algn="ctr">
              <a:spcBef>
                <a:spcPts val="0"/>
              </a:spcBef>
              <a:spcAft>
                <a:spcPts val="0"/>
              </a:spcAft>
              <a:buNone/>
            </a:pPr>
            <a:r>
              <a:rPr lang="en" sz="1600">
                <a:solidFill>
                  <a:schemeClr val="dk1"/>
                </a:solidFill>
              </a:rPr>
              <a:t>Total Number of Rows : 31047</a:t>
            </a:r>
            <a:endParaRPr sz="1600">
              <a:solidFill>
                <a:schemeClr val="dk1"/>
              </a:solidFill>
            </a:endParaRPr>
          </a:p>
        </p:txBody>
      </p:sp>
      <p:sp>
        <p:nvSpPr>
          <p:cNvPr id="77" name="Google Shape;77;p16"/>
          <p:cNvSpPr txBox="1"/>
          <p:nvPr>
            <p:ph idx="1" type="body"/>
          </p:nvPr>
        </p:nvSpPr>
        <p:spPr>
          <a:xfrm>
            <a:off x="381000" y="1218475"/>
            <a:ext cx="4191000" cy="37812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rPr>
              <a:t>Vrinda Data Store (2022) </a:t>
            </a:r>
            <a:endParaRPr sz="1300">
              <a:solidFill>
                <a:schemeClr val="dk1"/>
              </a:solidFill>
            </a:endParaRPr>
          </a:p>
          <a:p>
            <a:pPr indent="0" lvl="0" marL="0" rtl="0" algn="l">
              <a:spcBef>
                <a:spcPts val="0"/>
              </a:spcBef>
              <a:spcAft>
                <a:spcPts val="0"/>
              </a:spcAft>
              <a:buNone/>
            </a:pPr>
            <a:r>
              <a:rPr lang="en" sz="1300">
                <a:solidFill>
                  <a:schemeClr val="dk1"/>
                </a:solidFill>
              </a:rPr>
              <a:t>—-&gt; 1. Customers Information</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Customer ID</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Gender</a:t>
            </a:r>
            <a:endParaRPr sz="1300">
              <a:solidFill>
                <a:schemeClr val="dk1"/>
              </a:solidFill>
            </a:endParaRPr>
          </a:p>
          <a:p>
            <a:pPr indent="-311150" lvl="1" marL="1371600" rtl="0" algn="l">
              <a:spcBef>
                <a:spcPts val="0"/>
              </a:spcBef>
              <a:spcAft>
                <a:spcPts val="0"/>
              </a:spcAft>
              <a:buClr>
                <a:schemeClr val="dk1"/>
              </a:buClr>
              <a:buSzPts val="1300"/>
              <a:buChar char="○"/>
            </a:pPr>
            <a:r>
              <a:rPr lang="en" sz="1300">
                <a:solidFill>
                  <a:schemeClr val="dk1"/>
                </a:solidFill>
              </a:rPr>
              <a:t>Men</a:t>
            </a:r>
            <a:endParaRPr sz="1300">
              <a:solidFill>
                <a:schemeClr val="dk1"/>
              </a:solidFill>
            </a:endParaRPr>
          </a:p>
          <a:p>
            <a:pPr indent="-311150" lvl="1" marL="1371600" rtl="0" algn="l">
              <a:spcBef>
                <a:spcPts val="0"/>
              </a:spcBef>
              <a:spcAft>
                <a:spcPts val="0"/>
              </a:spcAft>
              <a:buClr>
                <a:schemeClr val="dk1"/>
              </a:buClr>
              <a:buSzPts val="1300"/>
              <a:buChar char="○"/>
            </a:pPr>
            <a:r>
              <a:rPr lang="en" sz="1300">
                <a:solidFill>
                  <a:schemeClr val="dk1"/>
                </a:solidFill>
              </a:rPr>
              <a:t>Women</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Age </a:t>
            </a:r>
            <a:endParaRPr sz="1300">
              <a:solidFill>
                <a:schemeClr val="dk1"/>
              </a:solidFill>
            </a:endParaRPr>
          </a:p>
          <a:p>
            <a:pPr indent="-311150" lvl="1" marL="1371600" rtl="0" algn="l">
              <a:spcBef>
                <a:spcPts val="0"/>
              </a:spcBef>
              <a:spcAft>
                <a:spcPts val="0"/>
              </a:spcAft>
              <a:buClr>
                <a:schemeClr val="dk1"/>
              </a:buClr>
              <a:buSzPts val="1300"/>
              <a:buChar char="○"/>
            </a:pPr>
            <a:r>
              <a:rPr lang="en" sz="1300">
                <a:solidFill>
                  <a:schemeClr val="dk1"/>
                </a:solidFill>
              </a:rPr>
              <a:t>Group</a:t>
            </a:r>
            <a:endParaRPr sz="1300">
              <a:solidFill>
                <a:schemeClr val="dk1"/>
              </a:solidFill>
            </a:endParaRPr>
          </a:p>
          <a:p>
            <a:pPr indent="-311150" lvl="2" marL="1828800" rtl="0" algn="l">
              <a:spcBef>
                <a:spcPts val="0"/>
              </a:spcBef>
              <a:spcAft>
                <a:spcPts val="0"/>
              </a:spcAft>
              <a:buClr>
                <a:schemeClr val="dk1"/>
              </a:buClr>
              <a:buSzPts val="1300"/>
              <a:buChar char="■"/>
            </a:pPr>
            <a:r>
              <a:rPr lang="en" sz="1300">
                <a:solidFill>
                  <a:schemeClr val="dk1"/>
                </a:solidFill>
              </a:rPr>
              <a:t>Teenagers ( 18 to 25)</a:t>
            </a:r>
            <a:endParaRPr sz="1300">
              <a:solidFill>
                <a:schemeClr val="dk1"/>
              </a:solidFill>
            </a:endParaRPr>
          </a:p>
          <a:p>
            <a:pPr indent="-311150" lvl="2" marL="1828800" rtl="0" algn="l">
              <a:spcBef>
                <a:spcPts val="0"/>
              </a:spcBef>
              <a:spcAft>
                <a:spcPts val="0"/>
              </a:spcAft>
              <a:buClr>
                <a:schemeClr val="dk1"/>
              </a:buClr>
              <a:buSzPts val="1300"/>
              <a:buChar char="■"/>
            </a:pPr>
            <a:r>
              <a:rPr lang="en" sz="1300">
                <a:solidFill>
                  <a:schemeClr val="dk1"/>
                </a:solidFill>
              </a:rPr>
              <a:t>Adults (26 to 50)</a:t>
            </a:r>
            <a:endParaRPr sz="1300">
              <a:solidFill>
                <a:schemeClr val="dk1"/>
              </a:solidFill>
            </a:endParaRPr>
          </a:p>
          <a:p>
            <a:pPr indent="-311150" lvl="2" marL="1828800" rtl="0" algn="l">
              <a:spcBef>
                <a:spcPts val="0"/>
              </a:spcBef>
              <a:spcAft>
                <a:spcPts val="0"/>
              </a:spcAft>
              <a:buClr>
                <a:schemeClr val="dk1"/>
              </a:buClr>
              <a:buSzPts val="1300"/>
              <a:buChar char="■"/>
            </a:pPr>
            <a:r>
              <a:rPr lang="en" sz="1300">
                <a:solidFill>
                  <a:schemeClr val="dk1"/>
                </a:solidFill>
              </a:rPr>
              <a:t>Senior (51+)</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Size</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Location</a:t>
            </a:r>
            <a:endParaRPr sz="1300">
              <a:solidFill>
                <a:schemeClr val="dk1"/>
              </a:solidFill>
            </a:endParaRPr>
          </a:p>
          <a:p>
            <a:pPr indent="-311150" lvl="1" marL="1371600" rtl="0" algn="l">
              <a:spcBef>
                <a:spcPts val="0"/>
              </a:spcBef>
              <a:spcAft>
                <a:spcPts val="0"/>
              </a:spcAft>
              <a:buClr>
                <a:schemeClr val="dk1"/>
              </a:buClr>
              <a:buSzPts val="1300"/>
              <a:buChar char="○"/>
            </a:pPr>
            <a:r>
              <a:rPr lang="en" sz="1300">
                <a:solidFill>
                  <a:schemeClr val="dk1"/>
                </a:solidFill>
              </a:rPr>
              <a:t> Ship_city</a:t>
            </a:r>
            <a:endParaRPr sz="1300">
              <a:solidFill>
                <a:schemeClr val="dk1"/>
              </a:solidFill>
            </a:endParaRPr>
          </a:p>
          <a:p>
            <a:pPr indent="-311150" lvl="1" marL="1371600" rtl="0" algn="l">
              <a:spcBef>
                <a:spcPts val="0"/>
              </a:spcBef>
              <a:spcAft>
                <a:spcPts val="0"/>
              </a:spcAft>
              <a:buClr>
                <a:schemeClr val="dk1"/>
              </a:buClr>
              <a:buSzPts val="1300"/>
              <a:buChar char="○"/>
            </a:pPr>
            <a:r>
              <a:rPr lang="en" sz="1300">
                <a:solidFill>
                  <a:schemeClr val="dk1"/>
                </a:solidFill>
              </a:rPr>
              <a:t> ship_state </a:t>
            </a:r>
            <a:endParaRPr sz="1300">
              <a:solidFill>
                <a:schemeClr val="dk1"/>
              </a:solidFill>
            </a:endParaRPr>
          </a:p>
          <a:p>
            <a:pPr indent="-311150" lvl="1" marL="1371600" rtl="0" algn="l">
              <a:spcBef>
                <a:spcPts val="0"/>
              </a:spcBef>
              <a:spcAft>
                <a:spcPts val="0"/>
              </a:spcAft>
              <a:buClr>
                <a:schemeClr val="dk1"/>
              </a:buClr>
              <a:buSzPts val="1300"/>
              <a:buChar char="○"/>
            </a:pPr>
            <a:r>
              <a:rPr lang="en" sz="1300">
                <a:solidFill>
                  <a:schemeClr val="dk1"/>
                </a:solidFill>
              </a:rPr>
              <a:t>ship_postal_code </a:t>
            </a:r>
            <a:endParaRPr sz="1300">
              <a:solidFill>
                <a:schemeClr val="dk1"/>
              </a:solidFill>
            </a:endParaRPr>
          </a:p>
          <a:p>
            <a:pPr indent="0" lvl="0" marL="0" rtl="0" algn="l">
              <a:spcBef>
                <a:spcPts val="0"/>
              </a:spcBef>
              <a:spcAft>
                <a:spcPts val="0"/>
              </a:spcAft>
              <a:buNone/>
            </a:pPr>
            <a:r>
              <a:rPr lang="en" sz="1300">
                <a:solidFill>
                  <a:schemeClr val="dk1"/>
                </a:solidFill>
              </a:rPr>
              <a:t> </a:t>
            </a:r>
            <a:endParaRPr sz="1300">
              <a:solidFill>
                <a:schemeClr val="dk1"/>
              </a:solidFill>
            </a:endParaRPr>
          </a:p>
        </p:txBody>
      </p:sp>
      <p:sp>
        <p:nvSpPr>
          <p:cNvPr id="78" name="Google Shape;78;p16"/>
          <p:cNvSpPr txBox="1"/>
          <p:nvPr>
            <p:ph idx="1" type="body"/>
          </p:nvPr>
        </p:nvSpPr>
        <p:spPr>
          <a:xfrm>
            <a:off x="4572000" y="1218475"/>
            <a:ext cx="4260300" cy="3781200"/>
          </a:xfrm>
          <a:prstGeom prst="rect">
            <a:avLst/>
          </a:prstGeom>
          <a:ln cap="flat" cmpd="sng" w="9525">
            <a:solidFill>
              <a:schemeClr val="lt2"/>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t/>
            </a:r>
            <a:endParaRPr sz="1300">
              <a:solidFill>
                <a:schemeClr val="dk1"/>
              </a:solidFill>
            </a:endParaRPr>
          </a:p>
          <a:p>
            <a:pPr indent="0" lvl="0" marL="0" rtl="0" algn="l">
              <a:spcBef>
                <a:spcPts val="0"/>
              </a:spcBef>
              <a:spcAft>
                <a:spcPts val="0"/>
              </a:spcAft>
              <a:buNone/>
            </a:pPr>
            <a:r>
              <a:rPr lang="en" sz="1300">
                <a:solidFill>
                  <a:schemeClr val="dk1"/>
                </a:solidFill>
              </a:rPr>
              <a:t>  —-&gt;2. Order Information</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Order Id</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Month</a:t>
            </a:r>
            <a:endParaRPr sz="1300">
              <a:solidFill>
                <a:schemeClr val="dk1"/>
              </a:solidFill>
            </a:endParaRPr>
          </a:p>
          <a:p>
            <a:pPr indent="-311150" lvl="1" marL="1371600" rtl="0" algn="l">
              <a:spcBef>
                <a:spcPts val="0"/>
              </a:spcBef>
              <a:spcAft>
                <a:spcPts val="0"/>
              </a:spcAft>
              <a:buClr>
                <a:schemeClr val="dk1"/>
              </a:buClr>
              <a:buSzPts val="1300"/>
              <a:buChar char="○"/>
            </a:pPr>
            <a:r>
              <a:rPr lang="en" sz="1300">
                <a:solidFill>
                  <a:schemeClr val="dk1"/>
                </a:solidFill>
              </a:rPr>
              <a:t>Date</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Status</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Channel</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SKU    </a:t>
            </a:r>
            <a:endParaRPr sz="1300">
              <a:solidFill>
                <a:schemeClr val="dk1"/>
              </a:solidFill>
            </a:endParaRPr>
          </a:p>
          <a:p>
            <a:pPr indent="0" lvl="0" marL="0" rtl="0" algn="l">
              <a:spcBef>
                <a:spcPts val="0"/>
              </a:spcBef>
              <a:spcAft>
                <a:spcPts val="0"/>
              </a:spcAft>
              <a:buNone/>
            </a:pPr>
            <a:r>
              <a:rPr lang="en" sz="1300">
                <a:solidFill>
                  <a:schemeClr val="dk1"/>
                </a:solidFill>
              </a:rPr>
              <a:t>  —-&gt; 3. Product Information</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Category</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Size</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Quantity</a:t>
            </a:r>
            <a:endParaRPr sz="1300">
              <a:solidFill>
                <a:schemeClr val="dk1"/>
              </a:solidFill>
            </a:endParaRPr>
          </a:p>
          <a:p>
            <a:pPr indent="-311150" lvl="0" marL="914400" rtl="0" algn="l">
              <a:spcBef>
                <a:spcPts val="0"/>
              </a:spcBef>
              <a:spcAft>
                <a:spcPts val="0"/>
              </a:spcAft>
              <a:buClr>
                <a:schemeClr val="dk1"/>
              </a:buClr>
              <a:buSzPts val="1300"/>
              <a:buChar char="●"/>
            </a:pPr>
            <a:r>
              <a:rPr lang="en" sz="1300">
                <a:solidFill>
                  <a:schemeClr val="dk1"/>
                </a:solidFill>
              </a:rPr>
              <a:t>Amount	 </a:t>
            </a:r>
            <a:endParaRPr sz="1300">
              <a:solidFill>
                <a:schemeClr val="dk1"/>
              </a:solidFill>
            </a:endParaRPr>
          </a:p>
          <a:p>
            <a:pPr indent="0" lvl="0" marL="0" rtl="0" algn="l">
              <a:spcBef>
                <a:spcPts val="0"/>
              </a:spcBef>
              <a:spcAft>
                <a:spcPts val="0"/>
              </a:spcAft>
              <a:buNone/>
            </a:pPr>
            <a:r>
              <a:t/>
            </a:r>
            <a:endParaRPr sz="1300">
              <a:solidFill>
                <a:schemeClr val="dk1"/>
              </a:solidFill>
            </a:endParaRPr>
          </a:p>
        </p:txBody>
      </p:sp>
      <p:pic>
        <p:nvPicPr>
          <p:cNvPr id="79" name="Google Shape;79;p16"/>
          <p:cNvPicPr preferRelativeResize="0"/>
          <p:nvPr/>
        </p:nvPicPr>
        <p:blipFill>
          <a:blip r:embed="rId3">
            <a:alphaModFix/>
          </a:blip>
          <a:stretch>
            <a:fillRect/>
          </a:stretch>
        </p:blipFill>
        <p:spPr>
          <a:xfrm>
            <a:off x="5747194" y="2256625"/>
            <a:ext cx="3127599" cy="2444050"/>
          </a:xfrm>
          <a:prstGeom prst="rect">
            <a:avLst/>
          </a:prstGeom>
          <a:noFill/>
          <a:ln>
            <a:noFill/>
          </a:ln>
        </p:spPr>
      </p:pic>
      <p:pic>
        <p:nvPicPr>
          <p:cNvPr id="80" name="Google Shape;80;p16"/>
          <p:cNvPicPr preferRelativeResize="0"/>
          <p:nvPr/>
        </p:nvPicPr>
        <p:blipFill rotWithShape="1">
          <a:blip r:embed="rId4">
            <a:alphaModFix/>
          </a:blip>
          <a:srcRect b="-15034" l="-15615" r="-22697" t="-23278"/>
          <a:stretch/>
        </p:blipFill>
        <p:spPr>
          <a:xfrm>
            <a:off x="2549649" y="1218475"/>
            <a:ext cx="4546574" cy="2855550"/>
          </a:xfrm>
          <a:prstGeom prst="rect">
            <a:avLst/>
          </a:prstGeom>
          <a:noFill/>
          <a:ln>
            <a:noFill/>
          </a:ln>
        </p:spPr>
      </p:pic>
      <p:pic>
        <p:nvPicPr>
          <p:cNvPr id="81" name="Google Shape;81;p16"/>
          <p:cNvPicPr preferRelativeResize="0"/>
          <p:nvPr/>
        </p:nvPicPr>
        <p:blipFill>
          <a:blip r:embed="rId5">
            <a:alphaModFix/>
          </a:blip>
          <a:stretch>
            <a:fillRect/>
          </a:stretch>
        </p:blipFill>
        <p:spPr>
          <a:xfrm>
            <a:off x="-1" y="2420050"/>
            <a:ext cx="3212668" cy="2648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Size of the Data:</a:t>
            </a:r>
            <a:endParaRPr/>
          </a:p>
        </p:txBody>
      </p:sp>
      <p:pic>
        <p:nvPicPr>
          <p:cNvPr id="87" name="Google Shape;87;p17"/>
          <p:cNvPicPr preferRelativeResize="0"/>
          <p:nvPr/>
        </p:nvPicPr>
        <p:blipFill>
          <a:blip r:embed="rId3">
            <a:alphaModFix/>
          </a:blip>
          <a:stretch>
            <a:fillRect/>
          </a:stretch>
        </p:blipFill>
        <p:spPr>
          <a:xfrm>
            <a:off x="4572000" y="2505875"/>
            <a:ext cx="4572000" cy="2678226"/>
          </a:xfrm>
          <a:prstGeom prst="rect">
            <a:avLst/>
          </a:prstGeom>
          <a:noFill/>
          <a:ln>
            <a:noFill/>
          </a:ln>
        </p:spPr>
      </p:pic>
      <p:pic>
        <p:nvPicPr>
          <p:cNvPr id="88" name="Google Shape;88;p17"/>
          <p:cNvPicPr preferRelativeResize="0"/>
          <p:nvPr/>
        </p:nvPicPr>
        <p:blipFill rotWithShape="1">
          <a:blip r:embed="rId4">
            <a:alphaModFix/>
          </a:blip>
          <a:srcRect b="0" l="-1122" r="0" t="0"/>
          <a:stretch/>
        </p:blipFill>
        <p:spPr>
          <a:xfrm>
            <a:off x="-47000" y="2505875"/>
            <a:ext cx="4619000" cy="2726301"/>
          </a:xfrm>
          <a:prstGeom prst="rect">
            <a:avLst/>
          </a:prstGeom>
          <a:noFill/>
          <a:ln>
            <a:noFill/>
          </a:ln>
        </p:spPr>
      </p:pic>
      <p:pic>
        <p:nvPicPr>
          <p:cNvPr id="89" name="Google Shape;89;p17"/>
          <p:cNvPicPr preferRelativeResize="0"/>
          <p:nvPr/>
        </p:nvPicPr>
        <p:blipFill rotWithShape="1">
          <a:blip r:embed="rId5">
            <a:alphaModFix/>
          </a:blip>
          <a:srcRect b="0" l="0" r="0" t="0"/>
          <a:stretch/>
        </p:blipFill>
        <p:spPr>
          <a:xfrm>
            <a:off x="2907988" y="-9275"/>
            <a:ext cx="3212670" cy="26483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8"/>
          <p:cNvSpPr txBox="1"/>
          <p:nvPr>
            <p:ph type="title"/>
          </p:nvPr>
        </p:nvSpPr>
        <p:spPr>
          <a:xfrm>
            <a:off x="595050" y="555050"/>
            <a:ext cx="7852200" cy="41109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 sz="3000"/>
              <a:t>Data Residing Location :</a:t>
            </a:r>
            <a:endParaRPr sz="3000"/>
          </a:p>
          <a:p>
            <a:pPr indent="-387350" lvl="0" marL="457200" rtl="0" algn="l">
              <a:lnSpc>
                <a:spcPct val="115000"/>
              </a:lnSpc>
              <a:spcBef>
                <a:spcPts val="1200"/>
              </a:spcBef>
              <a:spcAft>
                <a:spcPts val="0"/>
              </a:spcAft>
              <a:buSzPts val="2500"/>
              <a:buFont typeface="Average"/>
              <a:buChar char="●"/>
            </a:pPr>
            <a:r>
              <a:rPr lang="en" sz="2500">
                <a:latin typeface="Average"/>
                <a:ea typeface="Average"/>
                <a:cs typeface="Average"/>
                <a:sym typeface="Average"/>
              </a:rPr>
              <a:t>Data Source : </a:t>
            </a:r>
            <a:endParaRPr sz="2500">
              <a:latin typeface="Average"/>
              <a:ea typeface="Average"/>
              <a:cs typeface="Average"/>
              <a:sym typeface="Average"/>
            </a:endParaRPr>
          </a:p>
          <a:p>
            <a:pPr indent="-355600" lvl="3" marL="1828800" rtl="0" algn="l">
              <a:lnSpc>
                <a:spcPct val="115000"/>
              </a:lnSpc>
              <a:spcBef>
                <a:spcPts val="0"/>
              </a:spcBef>
              <a:spcAft>
                <a:spcPts val="0"/>
              </a:spcAft>
              <a:buSzPts val="2000"/>
              <a:buFont typeface="Average"/>
              <a:buChar char="●"/>
            </a:pPr>
            <a:r>
              <a:rPr lang="en" sz="2000">
                <a:latin typeface="Average"/>
                <a:ea typeface="Average"/>
                <a:cs typeface="Average"/>
                <a:sym typeface="Average"/>
              </a:rPr>
              <a:t>Excel/CSV file</a:t>
            </a:r>
            <a:endParaRPr sz="2000">
              <a:latin typeface="Average"/>
              <a:ea typeface="Average"/>
              <a:cs typeface="Average"/>
              <a:sym typeface="Average"/>
            </a:endParaRPr>
          </a:p>
          <a:p>
            <a:pPr indent="-387350" lvl="0" marL="457200" rtl="0" algn="l">
              <a:lnSpc>
                <a:spcPct val="115000"/>
              </a:lnSpc>
              <a:spcBef>
                <a:spcPts val="0"/>
              </a:spcBef>
              <a:spcAft>
                <a:spcPts val="0"/>
              </a:spcAft>
              <a:buSzPts val="2500"/>
              <a:buFont typeface="Average"/>
              <a:buChar char="●"/>
            </a:pPr>
            <a:r>
              <a:rPr lang="en" sz="2500">
                <a:latin typeface="Average"/>
                <a:ea typeface="Average"/>
                <a:cs typeface="Average"/>
                <a:sym typeface="Average"/>
              </a:rPr>
              <a:t>Storage : </a:t>
            </a:r>
            <a:endParaRPr sz="2500">
              <a:latin typeface="Average"/>
              <a:ea typeface="Average"/>
              <a:cs typeface="Average"/>
              <a:sym typeface="Average"/>
            </a:endParaRPr>
          </a:p>
          <a:p>
            <a:pPr indent="-355600" lvl="3" marL="1828800" rtl="0" algn="l">
              <a:lnSpc>
                <a:spcPct val="115000"/>
              </a:lnSpc>
              <a:spcBef>
                <a:spcPts val="0"/>
              </a:spcBef>
              <a:spcAft>
                <a:spcPts val="0"/>
              </a:spcAft>
              <a:buSzPts val="2000"/>
              <a:buFont typeface="Average"/>
              <a:buChar char="●"/>
            </a:pPr>
            <a:r>
              <a:rPr lang="en" sz="2000">
                <a:latin typeface="Average"/>
                <a:ea typeface="Average"/>
                <a:cs typeface="Average"/>
                <a:sym typeface="Average"/>
              </a:rPr>
              <a:t>Google Sheets</a:t>
            </a:r>
            <a:endParaRPr sz="2000">
              <a:latin typeface="Average"/>
              <a:ea typeface="Average"/>
              <a:cs typeface="Average"/>
              <a:sym typeface="Average"/>
            </a:endParaRPr>
          </a:p>
          <a:p>
            <a:pPr indent="-387350" lvl="0" marL="457200" rtl="0" algn="l">
              <a:lnSpc>
                <a:spcPct val="115000"/>
              </a:lnSpc>
              <a:spcBef>
                <a:spcPts val="0"/>
              </a:spcBef>
              <a:spcAft>
                <a:spcPts val="0"/>
              </a:spcAft>
              <a:buSzPts val="2500"/>
              <a:buFont typeface="Average"/>
              <a:buChar char="●"/>
            </a:pPr>
            <a:r>
              <a:rPr lang="en" sz="2500">
                <a:latin typeface="Average"/>
                <a:ea typeface="Average"/>
                <a:cs typeface="Average"/>
                <a:sym typeface="Average"/>
              </a:rPr>
              <a:t>Platform Used : </a:t>
            </a:r>
            <a:endParaRPr sz="2500">
              <a:latin typeface="Average"/>
              <a:ea typeface="Average"/>
              <a:cs typeface="Average"/>
              <a:sym typeface="Average"/>
            </a:endParaRPr>
          </a:p>
          <a:p>
            <a:pPr indent="-355600" lvl="3" marL="1828800" rtl="0" algn="l">
              <a:lnSpc>
                <a:spcPct val="115000"/>
              </a:lnSpc>
              <a:spcBef>
                <a:spcPts val="0"/>
              </a:spcBef>
              <a:spcAft>
                <a:spcPts val="0"/>
              </a:spcAft>
              <a:buSzPts val="2000"/>
              <a:buFont typeface="Average"/>
              <a:buChar char="●"/>
            </a:pPr>
            <a:r>
              <a:rPr lang="en" sz="2000">
                <a:latin typeface="Average"/>
                <a:ea typeface="Average"/>
                <a:cs typeface="Average"/>
                <a:sym typeface="Average"/>
              </a:rPr>
              <a:t>Google Sheets</a:t>
            </a:r>
            <a:endParaRPr sz="2000">
              <a:latin typeface="Average"/>
              <a:ea typeface="Average"/>
              <a:cs typeface="Average"/>
              <a:sym typeface="Average"/>
            </a:endParaRPr>
          </a:p>
          <a:p>
            <a:pPr indent="-355600" lvl="3" marL="1828800" rtl="0" algn="l">
              <a:lnSpc>
                <a:spcPct val="115000"/>
              </a:lnSpc>
              <a:spcBef>
                <a:spcPts val="0"/>
              </a:spcBef>
              <a:spcAft>
                <a:spcPts val="0"/>
              </a:spcAft>
              <a:buSzPts val="2000"/>
              <a:buFont typeface="Average"/>
              <a:buChar char="●"/>
            </a:pPr>
            <a:r>
              <a:rPr lang="en" sz="2000">
                <a:latin typeface="Average"/>
                <a:ea typeface="Average"/>
                <a:cs typeface="Average"/>
                <a:sym typeface="Average"/>
              </a:rPr>
              <a:t>Python (Jupyter Notebook)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9"/>
          <p:cNvSpPr txBox="1"/>
          <p:nvPr>
            <p:ph type="title"/>
          </p:nvPr>
        </p:nvSpPr>
        <p:spPr>
          <a:xfrm>
            <a:off x="490250" y="73500"/>
            <a:ext cx="7690500" cy="99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Data Cleaning </a:t>
            </a:r>
            <a:r>
              <a:rPr b="1" lang="en" sz="4200"/>
              <a:t>:</a:t>
            </a:r>
            <a:endParaRPr sz="3500">
              <a:latin typeface="Average"/>
              <a:ea typeface="Average"/>
              <a:cs typeface="Average"/>
              <a:sym typeface="Average"/>
            </a:endParaRPr>
          </a:p>
        </p:txBody>
      </p:sp>
      <p:sp>
        <p:nvSpPr>
          <p:cNvPr id="100" name="Google Shape;100;p19"/>
          <p:cNvSpPr txBox="1"/>
          <p:nvPr/>
        </p:nvSpPr>
        <p:spPr>
          <a:xfrm>
            <a:off x="665825" y="936500"/>
            <a:ext cx="7778400" cy="411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a:t>1. Data Observation and Create Filter Column</a:t>
            </a:r>
            <a:endParaRPr b="1"/>
          </a:p>
          <a:p>
            <a:pPr indent="-304800" lvl="0" marL="457200" rtl="0" algn="l">
              <a:lnSpc>
                <a:spcPct val="115000"/>
              </a:lnSpc>
              <a:spcBef>
                <a:spcPts val="1200"/>
              </a:spcBef>
              <a:spcAft>
                <a:spcPts val="0"/>
              </a:spcAft>
              <a:buSzPts val="1200"/>
              <a:buChar char="●"/>
            </a:pPr>
            <a:r>
              <a:rPr lang="en" sz="1200"/>
              <a:t>Observe the data and set filters on each column to facilitate easier analysis.</a:t>
            </a:r>
            <a:endParaRPr sz="1200"/>
          </a:p>
          <a:p>
            <a:pPr indent="0" lvl="0" marL="0" rtl="0" algn="l">
              <a:lnSpc>
                <a:spcPct val="115000"/>
              </a:lnSpc>
              <a:spcBef>
                <a:spcPts val="1400"/>
              </a:spcBef>
              <a:spcAft>
                <a:spcPts val="0"/>
              </a:spcAft>
              <a:buNone/>
            </a:pPr>
            <a:r>
              <a:rPr b="1" lang="en"/>
              <a:t>2. Problem - Check for Null Values and Repeated Values in the Data</a:t>
            </a:r>
            <a:endParaRPr b="1"/>
          </a:p>
          <a:p>
            <a:pPr indent="0" lvl="0" marL="0" rtl="0" algn="l">
              <a:lnSpc>
                <a:spcPct val="115000"/>
              </a:lnSpc>
              <a:spcBef>
                <a:spcPts val="1200"/>
              </a:spcBef>
              <a:spcAft>
                <a:spcPts val="0"/>
              </a:spcAft>
              <a:buNone/>
            </a:pPr>
            <a:r>
              <a:rPr b="1" lang="en" sz="1200"/>
              <a:t>Solution:</a:t>
            </a:r>
            <a:endParaRPr b="1" sz="1200"/>
          </a:p>
          <a:p>
            <a:pPr indent="-304800" lvl="0" marL="457200" rtl="0" algn="l">
              <a:lnSpc>
                <a:spcPct val="115000"/>
              </a:lnSpc>
              <a:spcBef>
                <a:spcPts val="1200"/>
              </a:spcBef>
              <a:spcAft>
                <a:spcPts val="0"/>
              </a:spcAft>
              <a:buSzPts val="1200"/>
              <a:buChar char="●"/>
            </a:pPr>
            <a:r>
              <a:rPr lang="en" sz="1200"/>
              <a:t>In Excel, apply filters on each column to identify and check for null values and repeated entries with different names.</a:t>
            </a:r>
            <a:endParaRPr sz="1200"/>
          </a:p>
          <a:p>
            <a:pPr indent="-304800" lvl="0" marL="457200" rtl="0" algn="l">
              <a:lnSpc>
                <a:spcPct val="115000"/>
              </a:lnSpc>
              <a:spcBef>
                <a:spcPts val="0"/>
              </a:spcBef>
              <a:spcAft>
                <a:spcPts val="0"/>
              </a:spcAft>
              <a:buSzPts val="1200"/>
              <a:buChar char="●"/>
            </a:pPr>
            <a:r>
              <a:rPr lang="en" sz="1200"/>
              <a:t>No Null Values found in any columns and no repeated values in data.</a:t>
            </a:r>
            <a:endParaRPr sz="1200"/>
          </a:p>
          <a:p>
            <a:pPr indent="0" lvl="0" marL="0" rtl="0" algn="l">
              <a:lnSpc>
                <a:spcPct val="115000"/>
              </a:lnSpc>
              <a:spcBef>
                <a:spcPts val="1400"/>
              </a:spcBef>
              <a:spcAft>
                <a:spcPts val="0"/>
              </a:spcAft>
              <a:buNone/>
            </a:pPr>
            <a:r>
              <a:rPr b="1" lang="en"/>
              <a:t>3. Problem - Check in Gender Column for Data Cleaning</a:t>
            </a:r>
            <a:endParaRPr b="1"/>
          </a:p>
          <a:p>
            <a:pPr indent="0" lvl="0" marL="0" rtl="0" algn="l">
              <a:lnSpc>
                <a:spcPct val="115000"/>
              </a:lnSpc>
              <a:spcBef>
                <a:spcPts val="1200"/>
              </a:spcBef>
              <a:spcAft>
                <a:spcPts val="0"/>
              </a:spcAft>
              <a:buNone/>
            </a:pPr>
            <a:r>
              <a:rPr b="1" lang="en" sz="1200"/>
              <a:t>Solution:</a:t>
            </a:r>
            <a:endParaRPr b="1" sz="1200"/>
          </a:p>
          <a:p>
            <a:pPr indent="-304800" lvl="0" marL="457200" rtl="0" algn="l">
              <a:lnSpc>
                <a:spcPct val="115000"/>
              </a:lnSpc>
              <a:spcBef>
                <a:spcPts val="1200"/>
              </a:spcBef>
              <a:spcAft>
                <a:spcPts val="0"/>
              </a:spcAft>
              <a:buSzPts val="1200"/>
              <a:buChar char="●"/>
            </a:pPr>
            <a:r>
              <a:rPr lang="en" sz="1200"/>
              <a:t>Use filters to identify variations in the gender column (Men, M, Women, W).</a:t>
            </a:r>
            <a:endParaRPr sz="1200"/>
          </a:p>
          <a:p>
            <a:pPr indent="-304800" lvl="0" marL="457200" rtl="0" algn="l">
              <a:lnSpc>
                <a:spcPct val="115000"/>
              </a:lnSpc>
              <a:spcBef>
                <a:spcPts val="0"/>
              </a:spcBef>
              <a:spcAft>
                <a:spcPts val="0"/>
              </a:spcAft>
              <a:buSzPts val="1200"/>
              <a:buChar char="●"/>
            </a:pPr>
            <a:r>
              <a:rPr lang="en" sz="1200"/>
              <a:t>Use Find and Replace to standardize the values:</a:t>
            </a:r>
            <a:endParaRPr sz="1200"/>
          </a:p>
          <a:p>
            <a:pPr indent="-304800" lvl="1" marL="914400" rtl="0" algn="l">
              <a:lnSpc>
                <a:spcPct val="115000"/>
              </a:lnSpc>
              <a:spcBef>
                <a:spcPts val="0"/>
              </a:spcBef>
              <a:spcAft>
                <a:spcPts val="0"/>
              </a:spcAft>
              <a:buSzPts val="1200"/>
              <a:buChar char="○"/>
            </a:pPr>
            <a:r>
              <a:rPr lang="en" sz="1200"/>
              <a:t>Change all "M" to "Men"</a:t>
            </a:r>
            <a:endParaRPr sz="1200"/>
          </a:p>
          <a:p>
            <a:pPr indent="-304800" lvl="1" marL="914400" rtl="0" algn="l">
              <a:lnSpc>
                <a:spcPct val="115000"/>
              </a:lnSpc>
              <a:spcBef>
                <a:spcPts val="0"/>
              </a:spcBef>
              <a:spcAft>
                <a:spcPts val="0"/>
              </a:spcAft>
              <a:buSzPts val="1200"/>
              <a:buChar char="○"/>
            </a:pPr>
            <a:r>
              <a:rPr lang="en" sz="1200"/>
              <a:t>Change all "W" to "Women</a:t>
            </a:r>
            <a:r>
              <a:rPr lang="en" sz="1200"/>
              <a:t>"</a:t>
            </a:r>
            <a:endParaRPr sz="1900">
              <a:solidFill>
                <a:schemeClr val="lt1"/>
              </a:solidFill>
              <a:latin typeface="Average"/>
              <a:ea typeface="Average"/>
              <a:cs typeface="Average"/>
              <a:sym typeface="Average"/>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0"/>
          <p:cNvSpPr txBox="1"/>
          <p:nvPr/>
        </p:nvSpPr>
        <p:spPr>
          <a:xfrm>
            <a:off x="665825" y="245425"/>
            <a:ext cx="7778400" cy="4743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400"/>
              </a:spcBef>
              <a:spcAft>
                <a:spcPts val="0"/>
              </a:spcAft>
              <a:buNone/>
            </a:pPr>
            <a:r>
              <a:rPr b="1" lang="en"/>
              <a:t>4. Problem - Check Qty Column for Data Cleaning</a:t>
            </a:r>
            <a:endParaRPr b="1"/>
          </a:p>
          <a:p>
            <a:pPr indent="0" lvl="0" marL="0" rtl="0" algn="l">
              <a:lnSpc>
                <a:spcPct val="115000"/>
              </a:lnSpc>
              <a:spcBef>
                <a:spcPts val="1200"/>
              </a:spcBef>
              <a:spcAft>
                <a:spcPts val="0"/>
              </a:spcAft>
              <a:buNone/>
            </a:pPr>
            <a:r>
              <a:rPr b="1" lang="en" sz="1200"/>
              <a:t>Solution:</a:t>
            </a:r>
            <a:endParaRPr b="1" sz="1200"/>
          </a:p>
          <a:p>
            <a:pPr indent="-304800" lvl="0" marL="457200" rtl="0" algn="l">
              <a:lnSpc>
                <a:spcPct val="115000"/>
              </a:lnSpc>
              <a:spcBef>
                <a:spcPts val="1200"/>
              </a:spcBef>
              <a:spcAft>
                <a:spcPts val="0"/>
              </a:spcAft>
              <a:buSzPts val="1200"/>
              <a:buChar char="●"/>
            </a:pPr>
            <a:r>
              <a:rPr lang="en" sz="1200"/>
              <a:t>Apply filters to identify inconsistencies in the qty column (e.g., "One", "Two" as well as "1", "2").</a:t>
            </a:r>
            <a:endParaRPr sz="1200"/>
          </a:p>
          <a:p>
            <a:pPr indent="-304800" lvl="0" marL="457200" rtl="0" algn="l">
              <a:lnSpc>
                <a:spcPct val="115000"/>
              </a:lnSpc>
              <a:spcBef>
                <a:spcPts val="0"/>
              </a:spcBef>
              <a:spcAft>
                <a:spcPts val="0"/>
              </a:spcAft>
              <a:buSzPts val="1200"/>
              <a:buChar char="●"/>
            </a:pPr>
            <a:r>
              <a:rPr lang="en" sz="1200"/>
              <a:t>Use Find and Replace to standardize the values:</a:t>
            </a:r>
            <a:endParaRPr sz="1200"/>
          </a:p>
          <a:p>
            <a:pPr indent="-304800" lvl="1" marL="914400" rtl="0" algn="l">
              <a:lnSpc>
                <a:spcPct val="115000"/>
              </a:lnSpc>
              <a:spcBef>
                <a:spcPts val="0"/>
              </a:spcBef>
              <a:spcAft>
                <a:spcPts val="0"/>
              </a:spcAft>
              <a:buSzPts val="1200"/>
              <a:buChar char="○"/>
            </a:pPr>
            <a:r>
              <a:rPr lang="en" sz="1200"/>
              <a:t>Change "One" to "1"</a:t>
            </a:r>
            <a:endParaRPr sz="1200"/>
          </a:p>
          <a:p>
            <a:pPr indent="-304800" lvl="1" marL="914400" rtl="0" algn="l">
              <a:lnSpc>
                <a:spcPct val="115000"/>
              </a:lnSpc>
              <a:spcBef>
                <a:spcPts val="0"/>
              </a:spcBef>
              <a:spcAft>
                <a:spcPts val="0"/>
              </a:spcAft>
              <a:buSzPts val="1200"/>
              <a:buChar char="○"/>
            </a:pPr>
            <a:r>
              <a:rPr lang="en" sz="1200"/>
              <a:t>Change "Two" to "2"</a:t>
            </a:r>
            <a:endParaRPr sz="1200"/>
          </a:p>
          <a:p>
            <a:pPr indent="0" lvl="0" marL="0" rtl="0" algn="l">
              <a:lnSpc>
                <a:spcPct val="115000"/>
              </a:lnSpc>
              <a:spcBef>
                <a:spcPts val="1400"/>
              </a:spcBef>
              <a:spcAft>
                <a:spcPts val="0"/>
              </a:spcAft>
              <a:buNone/>
            </a:pPr>
            <a:r>
              <a:rPr b="1" lang="en"/>
              <a:t>5. Problem - Check for Ship-City and Ship-State for Data Cleaning</a:t>
            </a:r>
            <a:endParaRPr b="1"/>
          </a:p>
          <a:p>
            <a:pPr indent="0" lvl="0" marL="0" rtl="0" algn="l">
              <a:lnSpc>
                <a:spcPct val="115000"/>
              </a:lnSpc>
              <a:spcBef>
                <a:spcPts val="1200"/>
              </a:spcBef>
              <a:spcAft>
                <a:spcPts val="0"/>
              </a:spcAft>
              <a:buNone/>
            </a:pPr>
            <a:r>
              <a:rPr b="1" lang="en" sz="1200"/>
              <a:t>Solution:</a:t>
            </a:r>
            <a:endParaRPr b="1" sz="1200"/>
          </a:p>
          <a:p>
            <a:pPr indent="-304800" lvl="0" marL="457200" rtl="0" algn="l">
              <a:lnSpc>
                <a:spcPct val="115000"/>
              </a:lnSpc>
              <a:spcBef>
                <a:spcPts val="1200"/>
              </a:spcBef>
              <a:spcAft>
                <a:spcPts val="0"/>
              </a:spcAft>
              <a:buSzPts val="1200"/>
              <a:buChar char="●"/>
            </a:pPr>
            <a:r>
              <a:rPr lang="en" sz="1200"/>
              <a:t>Identify inconsistencies in capitalization (e.g., uppercase vs. lowercase text).</a:t>
            </a:r>
            <a:endParaRPr sz="1200"/>
          </a:p>
          <a:p>
            <a:pPr indent="-304800" lvl="0" marL="457200" rtl="0" algn="l">
              <a:lnSpc>
                <a:spcPct val="115000"/>
              </a:lnSpc>
              <a:spcBef>
                <a:spcPts val="0"/>
              </a:spcBef>
              <a:spcAft>
                <a:spcPts val="0"/>
              </a:spcAft>
              <a:buSzPts val="1200"/>
              <a:buChar char="●"/>
            </a:pPr>
            <a:r>
              <a:rPr lang="en" sz="1200"/>
              <a:t>Create a new column with the formula </a:t>
            </a:r>
            <a:r>
              <a:rPr lang="en" sz="1200">
                <a:solidFill>
                  <a:schemeClr val="lt1"/>
                </a:solidFill>
              </a:rPr>
              <a:t>=</a:t>
            </a:r>
            <a:r>
              <a:rPr lang="en" sz="1200">
                <a:solidFill>
                  <a:schemeClr val="lt1"/>
                </a:solidFill>
                <a:latin typeface="Roboto Mono"/>
                <a:ea typeface="Roboto Mono"/>
                <a:cs typeface="Roboto Mono"/>
                <a:sym typeface="Roboto Mono"/>
              </a:rPr>
              <a:t>TRIM(PROPER(value))</a:t>
            </a:r>
            <a:r>
              <a:rPr lang="en" sz="1200"/>
              <a:t> and apply it across all rows to standardize capitalization.</a:t>
            </a:r>
            <a:endParaRPr sz="1200"/>
          </a:p>
          <a:p>
            <a:pPr indent="-304800" lvl="0" marL="457200" rtl="0" algn="l">
              <a:lnSpc>
                <a:spcPct val="115000"/>
              </a:lnSpc>
              <a:spcBef>
                <a:spcPts val="0"/>
              </a:spcBef>
              <a:spcAft>
                <a:spcPts val="0"/>
              </a:spcAft>
              <a:buSzPts val="1200"/>
              <a:buChar char="●"/>
            </a:pPr>
            <a:r>
              <a:rPr lang="en" sz="1200"/>
              <a:t>Copy the cleaned values and paste them as values in the original ship-city and ship-state columns.</a:t>
            </a:r>
            <a:endParaRPr sz="1200"/>
          </a:p>
          <a:p>
            <a:pPr indent="-304800" lvl="0" marL="457200" rtl="0" algn="l">
              <a:lnSpc>
                <a:spcPct val="115000"/>
              </a:lnSpc>
              <a:spcBef>
                <a:spcPts val="0"/>
              </a:spcBef>
              <a:spcAft>
                <a:spcPts val="0"/>
              </a:spcAft>
              <a:buSzPts val="1200"/>
              <a:buChar char="●"/>
            </a:pPr>
            <a:r>
              <a:rPr lang="en" sz="1200"/>
              <a:t>Delete the new column created for cleaning.</a:t>
            </a:r>
            <a:endParaRPr sz="1200"/>
          </a:p>
          <a:p>
            <a:pPr indent="0" lvl="0" marL="0" rtl="0" algn="l">
              <a:lnSpc>
                <a:spcPct val="115000"/>
              </a:lnSpc>
              <a:spcBef>
                <a:spcPts val="1200"/>
              </a:spcBef>
              <a:spcAft>
                <a:spcPts val="0"/>
              </a:spcAft>
              <a:buNone/>
            </a:pPr>
            <a:r>
              <a:rPr b="1" lang="en" sz="1200"/>
              <a:t>Outcome:</a:t>
            </a:r>
            <a:endParaRPr b="1" sz="1200"/>
          </a:p>
          <a:p>
            <a:pPr indent="-304800" lvl="0" marL="457200" rtl="0" algn="l">
              <a:lnSpc>
                <a:spcPct val="115000"/>
              </a:lnSpc>
              <a:spcBef>
                <a:spcPts val="1200"/>
              </a:spcBef>
              <a:spcAft>
                <a:spcPts val="0"/>
              </a:spcAft>
              <a:buSzPts val="1200"/>
              <a:buChar char="●"/>
            </a:pPr>
            <a:r>
              <a:rPr lang="en" sz="1200"/>
              <a:t>All data is now cleaned and ready for further processing.</a:t>
            </a:r>
            <a:endParaRPr sz="1200"/>
          </a:p>
          <a:p>
            <a:pPr indent="0" lvl="0" marL="0" rtl="0" algn="l">
              <a:spcBef>
                <a:spcPts val="1200"/>
              </a:spcBef>
              <a:spcAft>
                <a:spcPts val="0"/>
              </a:spcAft>
              <a:buNone/>
            </a:pPr>
            <a:r>
              <a:t/>
            </a:r>
            <a:endParaRPr sz="1900">
              <a:solidFill>
                <a:schemeClr val="lt1"/>
              </a:solidFill>
              <a:latin typeface="Average"/>
              <a:ea typeface="Average"/>
              <a:cs typeface="Average"/>
              <a:sym typeface="Averag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Processing:</a:t>
            </a:r>
            <a:endParaRPr/>
          </a:p>
        </p:txBody>
      </p:sp>
      <p:sp>
        <p:nvSpPr>
          <p:cNvPr id="111" name="Google Shape;111;p21"/>
          <p:cNvSpPr txBox="1"/>
          <p:nvPr>
            <p:ph idx="1" type="body"/>
          </p:nvPr>
        </p:nvSpPr>
        <p:spPr>
          <a:xfrm>
            <a:off x="311700" y="1000075"/>
            <a:ext cx="4260300" cy="378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500">
                <a:solidFill>
                  <a:schemeClr val="dk1"/>
                </a:solidFill>
              </a:rPr>
              <a:t>Outliers </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400">
                <a:solidFill>
                  <a:schemeClr val="dk1"/>
                </a:solidFill>
              </a:rPr>
              <a:t>Problem - </a:t>
            </a:r>
            <a:endParaRPr sz="1400">
              <a:solidFill>
                <a:schemeClr val="dk1"/>
              </a:solidFill>
            </a:endParaRPr>
          </a:p>
          <a:p>
            <a:pPr indent="0" lvl="0" marL="0" rtl="0" algn="l">
              <a:spcBef>
                <a:spcPts val="0"/>
              </a:spcBef>
              <a:spcAft>
                <a:spcPts val="0"/>
              </a:spcAft>
              <a:buNone/>
            </a:pPr>
            <a:r>
              <a:rPr lang="en" sz="1400">
                <a:solidFill>
                  <a:schemeClr val="dk1"/>
                </a:solidFill>
              </a:rPr>
              <a:t>Find the Total Numbers of Outliers.</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0"/>
              </a:spcAft>
              <a:buNone/>
            </a:pPr>
            <a:r>
              <a:rPr lang="en" sz="1600">
                <a:solidFill>
                  <a:schemeClr val="dk1"/>
                </a:solidFill>
              </a:rPr>
              <a:t>Solution-</a:t>
            </a:r>
            <a:endParaRPr sz="1600">
              <a:solidFill>
                <a:schemeClr val="dk1"/>
              </a:solidFill>
            </a:endParaRPr>
          </a:p>
          <a:p>
            <a:pPr indent="0" lvl="0" marL="0" rtl="0" algn="l">
              <a:spcBef>
                <a:spcPts val="0"/>
              </a:spcBef>
              <a:spcAft>
                <a:spcPts val="0"/>
              </a:spcAft>
              <a:buNone/>
            </a:pPr>
            <a:r>
              <a:rPr lang="en" sz="1400">
                <a:solidFill>
                  <a:schemeClr val="dk1"/>
                </a:solidFill>
              </a:rPr>
              <a:t>By Using Z-score Tests for only the numeric columns present in the Data we can find Total No. of Outliers in the data.</a:t>
            </a:r>
            <a:endParaRPr sz="1400">
              <a:solidFill>
                <a:schemeClr val="dk1"/>
              </a:solidFill>
            </a:endParaRPr>
          </a:p>
          <a:p>
            <a:pPr indent="0" lvl="0" marL="0" rtl="0" algn="l">
              <a:spcBef>
                <a:spcPts val="0"/>
              </a:spcBef>
              <a:spcAft>
                <a:spcPts val="0"/>
              </a:spcAft>
              <a:buNone/>
            </a:pPr>
            <a:r>
              <a:rPr lang="en" sz="1400">
                <a:solidFill>
                  <a:schemeClr val="dk1"/>
                </a:solidFill>
              </a:rPr>
              <a:t>For Performing Z-score we use python(Jupyter </a:t>
            </a:r>
            <a:r>
              <a:rPr lang="en" sz="1400">
                <a:solidFill>
                  <a:schemeClr val="dk1"/>
                </a:solidFill>
              </a:rPr>
              <a:t>Notebook</a:t>
            </a:r>
            <a:r>
              <a:rPr lang="en" sz="1400">
                <a:solidFill>
                  <a:schemeClr val="dk1"/>
                </a:solidFill>
              </a:rPr>
              <a:t>).</a:t>
            </a:r>
            <a:endParaRPr sz="1400">
              <a:solidFill>
                <a:schemeClr val="dk1"/>
              </a:solidFill>
            </a:endParaRPr>
          </a:p>
          <a:p>
            <a:pPr indent="0" lvl="0" marL="0" rtl="0" algn="l">
              <a:spcBef>
                <a:spcPts val="0"/>
              </a:spcBef>
              <a:spcAft>
                <a:spcPts val="0"/>
              </a:spcAft>
              <a:buNone/>
            </a:pPr>
            <a:r>
              <a:t/>
            </a:r>
            <a:endParaRPr sz="1400">
              <a:solidFill>
                <a:schemeClr val="dk1"/>
              </a:solidFill>
            </a:endParaRPr>
          </a:p>
          <a:p>
            <a:pPr indent="0" lvl="0" marL="0" rtl="0" algn="l">
              <a:spcBef>
                <a:spcPts val="0"/>
              </a:spcBef>
              <a:spcAft>
                <a:spcPts val="1600"/>
              </a:spcAft>
              <a:buNone/>
            </a:pPr>
            <a:r>
              <a:t/>
            </a:r>
            <a:endParaRPr/>
          </a:p>
        </p:txBody>
      </p:sp>
      <p:pic>
        <p:nvPicPr>
          <p:cNvPr id="112" name="Google Shape;112;p21"/>
          <p:cNvPicPr preferRelativeResize="0"/>
          <p:nvPr/>
        </p:nvPicPr>
        <p:blipFill>
          <a:blip r:embed="rId4">
            <a:alphaModFix/>
          </a:blip>
          <a:stretch>
            <a:fillRect/>
          </a:stretch>
        </p:blipFill>
        <p:spPr>
          <a:xfrm>
            <a:off x="4492924" y="1304875"/>
            <a:ext cx="4498676" cy="33048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2"/>
          <p:cNvSpPr txBox="1"/>
          <p:nvPr>
            <p:ph idx="1" type="body"/>
          </p:nvPr>
        </p:nvSpPr>
        <p:spPr>
          <a:xfrm>
            <a:off x="311700" y="161875"/>
            <a:ext cx="8520600" cy="481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dk1"/>
                </a:solidFill>
                <a:latin typeface="Arial"/>
                <a:ea typeface="Arial"/>
                <a:cs typeface="Arial"/>
                <a:sym typeface="Arial"/>
              </a:rPr>
              <a:t>Duplicates And Null Values</a:t>
            </a:r>
            <a:endParaRPr sz="2400">
              <a:solidFill>
                <a:schemeClr val="dk1"/>
              </a:solidFill>
              <a:latin typeface="Arial"/>
              <a:ea typeface="Arial"/>
              <a:cs typeface="Arial"/>
              <a:sym typeface="Arial"/>
            </a:endParaRPr>
          </a:p>
          <a:p>
            <a:pPr indent="0" lvl="0" marL="0" rtl="0" algn="l">
              <a:spcBef>
                <a:spcPts val="0"/>
              </a:spcBef>
              <a:spcAft>
                <a:spcPts val="0"/>
              </a:spcAft>
              <a:buNone/>
            </a:pPr>
            <a:r>
              <a:t/>
            </a:r>
            <a:endParaRPr sz="24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Problem -</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 Find the Duplicates and Null Values in the Data.</a:t>
            </a:r>
            <a:endParaRPr sz="1500">
              <a:solidFill>
                <a:schemeClr val="dk1"/>
              </a:solidFill>
              <a:latin typeface="Arial"/>
              <a:ea typeface="Arial"/>
              <a:cs typeface="Arial"/>
              <a:sym typeface="Arial"/>
            </a:endParaRPr>
          </a:p>
          <a:p>
            <a:pPr indent="0" lvl="0" marL="0" rtl="0" algn="l">
              <a:spcBef>
                <a:spcPts val="0"/>
              </a:spcBef>
              <a:spcAft>
                <a:spcPts val="0"/>
              </a:spcAft>
              <a:buNone/>
            </a:pPr>
            <a:r>
              <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Solution-</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By Using  total_duplicates = df.duplicated().sum() having df as our dataframe “Vrinda Store “ and for Null Values we use null_values = df.isnull().sum(). </a:t>
            </a:r>
            <a:endParaRPr sz="1500">
              <a:solidFill>
                <a:schemeClr val="dk1"/>
              </a:solidFill>
              <a:latin typeface="Arial"/>
              <a:ea typeface="Arial"/>
              <a:cs typeface="Arial"/>
              <a:sym typeface="Arial"/>
            </a:endParaRPr>
          </a:p>
          <a:p>
            <a:pPr indent="0" lvl="0" marL="0" rtl="0" algn="l">
              <a:spcBef>
                <a:spcPts val="0"/>
              </a:spcBef>
              <a:spcAft>
                <a:spcPts val="0"/>
              </a:spcAft>
              <a:buNone/>
            </a:pPr>
            <a:r>
              <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Result-</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Total duplicate rows: 0     </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Total null values: 0</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100">
                <a:solidFill>
                  <a:schemeClr val="dk1"/>
                </a:solidFill>
                <a:latin typeface="Arial"/>
                <a:ea typeface="Arial"/>
                <a:cs typeface="Arial"/>
                <a:sym typeface="Arial"/>
              </a:rPr>
              <a:t> </a:t>
            </a:r>
            <a:endParaRPr sz="1100">
              <a:solidFill>
                <a:schemeClr val="dk1"/>
              </a:solidFill>
              <a:latin typeface="Arial"/>
              <a:ea typeface="Arial"/>
              <a:cs typeface="Arial"/>
              <a:sym typeface="Arial"/>
            </a:endParaRPr>
          </a:p>
          <a:p>
            <a:pPr indent="0" lvl="0" marL="0" rtl="0" algn="l">
              <a:spcBef>
                <a:spcPts val="0"/>
              </a:spcBef>
              <a:spcAft>
                <a:spcPts val="1600"/>
              </a:spcAft>
              <a:buNone/>
            </a:pPr>
            <a:r>
              <a:t/>
            </a:r>
            <a:endParaRPr sz="1700">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idx="1" type="body"/>
          </p:nvPr>
        </p:nvSpPr>
        <p:spPr>
          <a:xfrm>
            <a:off x="311700" y="161875"/>
            <a:ext cx="8520600" cy="4816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Arial"/>
                <a:ea typeface="Arial"/>
                <a:cs typeface="Arial"/>
                <a:sym typeface="Arial"/>
              </a:rPr>
              <a:t>Order Id and Customer Id:</a:t>
            </a:r>
            <a:endParaRPr sz="1700">
              <a:solidFill>
                <a:schemeClr val="dk1"/>
              </a:solidFill>
              <a:latin typeface="Arial"/>
              <a:ea typeface="Arial"/>
              <a:cs typeface="Arial"/>
              <a:sym typeface="Arial"/>
            </a:endParaRPr>
          </a:p>
          <a:p>
            <a:pPr indent="0" lvl="0" marL="0" rtl="0" algn="l">
              <a:spcBef>
                <a:spcPts val="0"/>
              </a:spcBef>
              <a:spcAft>
                <a:spcPts val="0"/>
              </a:spcAft>
              <a:buNone/>
            </a:pPr>
            <a:r>
              <a:t/>
            </a:r>
            <a:endParaRPr sz="17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We have to check the columns which are numericals and are unique for each customer in the data.</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Therefore, We find the duplicates in the Order Id , Customers Id , Index as our primary key if no duplicates are found.</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By using  total_duplicate_order_ids = df['Order ID'].duplicated().sum() and total_duplicate_customer_ids = df['Customer ID'].duplicated().sum() in Python.</a:t>
            </a:r>
            <a:endParaRPr sz="1500">
              <a:solidFill>
                <a:schemeClr val="dk1"/>
              </a:solidFill>
              <a:latin typeface="Arial"/>
              <a:ea typeface="Arial"/>
              <a:cs typeface="Arial"/>
              <a:sym typeface="Arial"/>
            </a:endParaRPr>
          </a:p>
          <a:p>
            <a:pPr indent="0" lvl="0" marL="0" rtl="0" algn="l">
              <a:spcBef>
                <a:spcPts val="0"/>
              </a:spcBef>
              <a:spcAft>
                <a:spcPts val="0"/>
              </a:spcAft>
              <a:buNone/>
            </a:pPr>
            <a:r>
              <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Result -</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Total duplicate Order IDs: 2576         Total duplicate Customer IDs: 2610</a:t>
            </a:r>
            <a:endParaRPr sz="1500">
              <a:solidFill>
                <a:schemeClr val="dk1"/>
              </a:solidFill>
              <a:latin typeface="Arial"/>
              <a:ea typeface="Arial"/>
              <a:cs typeface="Arial"/>
              <a:sym typeface="Arial"/>
            </a:endParaRPr>
          </a:p>
          <a:p>
            <a:pPr indent="0" lvl="0" marL="0" rtl="0" algn="l">
              <a:spcBef>
                <a:spcPts val="0"/>
              </a:spcBef>
              <a:spcAft>
                <a:spcPts val="0"/>
              </a:spcAft>
              <a:buNone/>
            </a:pPr>
            <a:r>
              <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Therefore, </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Unique Order IDs: 28471      Unique Customer IDs: 28437</a:t>
            </a:r>
            <a:endParaRPr sz="1500">
              <a:solidFill>
                <a:schemeClr val="dk1"/>
              </a:solidFill>
              <a:latin typeface="Arial"/>
              <a:ea typeface="Arial"/>
              <a:cs typeface="Arial"/>
              <a:sym typeface="Arial"/>
            </a:endParaRPr>
          </a:p>
          <a:p>
            <a:pPr indent="0" lvl="0" marL="0" rtl="0" algn="l">
              <a:spcBef>
                <a:spcPts val="0"/>
              </a:spcBef>
              <a:spcAft>
                <a:spcPts val="0"/>
              </a:spcAft>
              <a:buNone/>
            </a:pPr>
            <a:r>
              <a:t/>
            </a:r>
            <a:endParaRPr sz="1500">
              <a:solidFill>
                <a:schemeClr val="dk1"/>
              </a:solidFill>
              <a:latin typeface="Arial"/>
              <a:ea typeface="Arial"/>
              <a:cs typeface="Arial"/>
              <a:sym typeface="Arial"/>
            </a:endParaRPr>
          </a:p>
          <a:p>
            <a:pPr indent="0" lvl="0" marL="0" rtl="0" algn="l">
              <a:spcBef>
                <a:spcPts val="0"/>
              </a:spcBef>
              <a:spcAft>
                <a:spcPts val="0"/>
              </a:spcAft>
              <a:buNone/>
            </a:pPr>
            <a:r>
              <a:rPr lang="en" sz="1500">
                <a:solidFill>
                  <a:schemeClr val="dk1"/>
                </a:solidFill>
                <a:latin typeface="Arial"/>
                <a:ea typeface="Arial"/>
                <a:cs typeface="Arial"/>
                <a:sym typeface="Arial"/>
              </a:rPr>
              <a:t>We can identify that we cannot remove the duplicates because they contain different category and amount in each, which means that the customer can be the same but buying different products from different channels.</a:t>
            </a:r>
            <a:endParaRPr sz="1500">
              <a:solidFill>
                <a:schemeClr val="dk1"/>
              </a:solidFill>
              <a:latin typeface="Arial"/>
              <a:ea typeface="Arial"/>
              <a:cs typeface="Arial"/>
              <a:sym typeface="Arial"/>
            </a:endParaRPr>
          </a:p>
          <a:p>
            <a:pPr indent="0" lvl="0" marL="0" rtl="0" algn="l">
              <a:spcBef>
                <a:spcPts val="0"/>
              </a:spcBef>
              <a:spcAft>
                <a:spcPts val="0"/>
              </a:spcAft>
              <a:buNone/>
            </a:pPr>
            <a:r>
              <a:t/>
            </a:r>
            <a:endParaRPr sz="1500">
              <a:solidFill>
                <a:schemeClr val="dk1"/>
              </a:solidFill>
              <a:latin typeface="Arial"/>
              <a:ea typeface="Arial"/>
              <a:cs typeface="Arial"/>
              <a:sym typeface="Arial"/>
            </a:endParaRPr>
          </a:p>
          <a:p>
            <a:pPr indent="0" lvl="0" marL="0" rtl="0" algn="l">
              <a:spcBef>
                <a:spcPts val="0"/>
              </a:spcBef>
              <a:spcAft>
                <a:spcPts val="1600"/>
              </a:spcAft>
              <a:buNone/>
            </a:pPr>
            <a:r>
              <a:t/>
            </a:r>
            <a:endParaRPr sz="1500">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4"/>
          <p:cNvSpPr txBox="1"/>
          <p:nvPr>
            <p:ph type="title"/>
          </p:nvPr>
        </p:nvSpPr>
        <p:spPr>
          <a:xfrm>
            <a:off x="490250" y="73500"/>
            <a:ext cx="7690500" cy="99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Data Insights :</a:t>
            </a:r>
            <a:endParaRPr sz="3500">
              <a:latin typeface="Average"/>
              <a:ea typeface="Average"/>
              <a:cs typeface="Average"/>
              <a:sym typeface="Average"/>
            </a:endParaRPr>
          </a:p>
        </p:txBody>
      </p:sp>
      <p:sp>
        <p:nvSpPr>
          <p:cNvPr id="128" name="Google Shape;128;p24"/>
          <p:cNvSpPr txBox="1"/>
          <p:nvPr/>
        </p:nvSpPr>
        <p:spPr>
          <a:xfrm>
            <a:off x="665825" y="936500"/>
            <a:ext cx="3906300" cy="4116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lt1"/>
                </a:solidFill>
                <a:latin typeface="Average"/>
                <a:ea typeface="Average"/>
                <a:cs typeface="Average"/>
                <a:sym typeface="Average"/>
              </a:rPr>
              <a:t>Gender:</a:t>
            </a:r>
            <a:endParaRPr sz="15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Women:</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13562773.00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629.28</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21553.00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Men:</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7613604.00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801.94</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9494.00</a:t>
            </a:r>
            <a:endParaRPr b="1" sz="1200">
              <a:latin typeface="Average"/>
              <a:ea typeface="Average"/>
              <a:cs typeface="Average"/>
              <a:sym typeface="Average"/>
            </a:endParaRPr>
          </a:p>
        </p:txBody>
      </p:sp>
      <p:sp>
        <p:nvSpPr>
          <p:cNvPr id="129" name="Google Shape;129;p24"/>
          <p:cNvSpPr txBox="1"/>
          <p:nvPr/>
        </p:nvSpPr>
        <p:spPr>
          <a:xfrm>
            <a:off x="4572125" y="936500"/>
            <a:ext cx="3906300" cy="41160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lt1"/>
                </a:solidFill>
                <a:latin typeface="Average"/>
                <a:ea typeface="Average"/>
                <a:cs typeface="Average"/>
                <a:sym typeface="Average"/>
              </a:rPr>
              <a:t>Group:</a:t>
            </a:r>
            <a:endParaRPr sz="15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Adult:</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12928106.00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682.87</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18932.00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Senior:</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4026652.00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681.44</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5909.00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Teenager:</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4221619.00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680.25</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6206.00</a:t>
            </a:r>
            <a:endParaRPr sz="1200">
              <a:solidFill>
                <a:schemeClr val="lt1"/>
              </a:solidFill>
              <a:latin typeface="Average"/>
              <a:ea typeface="Average"/>
              <a:cs typeface="Average"/>
              <a:sym typeface="Average"/>
            </a:endParaRPr>
          </a:p>
          <a:p>
            <a:pPr indent="0" lvl="0" marL="0" rtl="0" algn="l">
              <a:lnSpc>
                <a:spcPct val="115000"/>
              </a:lnSpc>
              <a:spcBef>
                <a:spcPts val="1200"/>
              </a:spcBef>
              <a:spcAft>
                <a:spcPts val="1200"/>
              </a:spcAft>
              <a:buNone/>
            </a:pPr>
            <a:r>
              <a:t/>
            </a:r>
            <a:endParaRPr b="1" sz="1200">
              <a:latin typeface="Average"/>
              <a:ea typeface="Average"/>
              <a:cs typeface="Average"/>
              <a:sym typeface="Average"/>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nvSpPr>
        <p:spPr>
          <a:xfrm>
            <a:off x="665825" y="245425"/>
            <a:ext cx="26109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lt1"/>
                </a:solidFill>
                <a:latin typeface="Average"/>
                <a:ea typeface="Average"/>
                <a:cs typeface="Average"/>
                <a:sym typeface="Average"/>
              </a:rPr>
              <a:t>Month:</a:t>
            </a:r>
            <a:endParaRPr sz="15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Dec:</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1622033.00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680.38</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2384.00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Nov:</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1615356.00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677.87</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2383.00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Oct:</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1666662.00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687.57</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2424.00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Sep:</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1688871.00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678.26</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2490.00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spcBef>
                <a:spcPts val="0"/>
              </a:spcBef>
              <a:spcAft>
                <a:spcPts val="0"/>
              </a:spcAft>
              <a:buNone/>
            </a:pPr>
            <a:r>
              <a:t/>
            </a:r>
            <a:endParaRPr sz="1200">
              <a:solidFill>
                <a:schemeClr val="lt1"/>
              </a:solidFill>
              <a:latin typeface="Average"/>
              <a:ea typeface="Average"/>
              <a:cs typeface="Average"/>
              <a:sym typeface="Average"/>
            </a:endParaRPr>
          </a:p>
        </p:txBody>
      </p:sp>
      <p:sp>
        <p:nvSpPr>
          <p:cNvPr id="135" name="Google Shape;135;p25"/>
          <p:cNvSpPr txBox="1"/>
          <p:nvPr/>
        </p:nvSpPr>
        <p:spPr>
          <a:xfrm>
            <a:off x="3276600" y="245425"/>
            <a:ext cx="26397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Aug:</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1808505.00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691.06</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2617.00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Jul:</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1772300.00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687.20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2579.00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Jun:</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1750966.00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674.23</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2597.00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May:</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1797822.00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686.98</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2617.00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spcBef>
                <a:spcPts val="0"/>
              </a:spcBef>
              <a:spcAft>
                <a:spcPts val="0"/>
              </a:spcAft>
              <a:buNone/>
            </a:pPr>
            <a:r>
              <a:t/>
            </a:r>
            <a:endParaRPr sz="1900">
              <a:solidFill>
                <a:schemeClr val="lt1"/>
              </a:solidFill>
              <a:latin typeface="Average"/>
              <a:ea typeface="Average"/>
              <a:cs typeface="Average"/>
              <a:sym typeface="Average"/>
            </a:endParaRPr>
          </a:p>
        </p:txBody>
      </p:sp>
      <p:sp>
        <p:nvSpPr>
          <p:cNvPr id="136" name="Google Shape;136;p25"/>
          <p:cNvSpPr txBox="1"/>
          <p:nvPr/>
        </p:nvSpPr>
        <p:spPr>
          <a:xfrm>
            <a:off x="5916450" y="247500"/>
            <a:ext cx="29496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Apr:</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1829263.00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681.29</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2685.00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Mar:</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1928066.00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683.95</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2819.00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Feb:</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1875932.00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682.16</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2750.00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Jan:</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1820601.00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673.80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2702.00</a:t>
            </a:r>
            <a:endParaRPr sz="1200">
              <a:solidFill>
                <a:schemeClr val="lt1"/>
              </a:solidFill>
              <a:latin typeface="Average"/>
              <a:ea typeface="Average"/>
              <a:cs typeface="Average"/>
              <a:sym typeface="Average"/>
            </a:endParaRPr>
          </a:p>
          <a:p>
            <a:pPr indent="0" lvl="0" marL="0" rtl="0" algn="l">
              <a:spcBef>
                <a:spcPts val="0"/>
              </a:spcBef>
              <a:spcAft>
                <a:spcPts val="0"/>
              </a:spcAft>
              <a:buNone/>
            </a:pPr>
            <a:r>
              <a:t/>
            </a:r>
            <a:endParaRPr sz="1900">
              <a:solidFill>
                <a:schemeClr val="lt1"/>
              </a:solidFill>
              <a:latin typeface="Average"/>
              <a:ea typeface="Average"/>
              <a:cs typeface="Average"/>
              <a:sym typeface="Average"/>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6"/>
          <p:cNvSpPr txBox="1"/>
          <p:nvPr/>
        </p:nvSpPr>
        <p:spPr>
          <a:xfrm>
            <a:off x="665825" y="245425"/>
            <a:ext cx="39063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lt1"/>
                </a:solidFill>
                <a:latin typeface="Average"/>
                <a:ea typeface="Average"/>
                <a:cs typeface="Average"/>
                <a:sym typeface="Average"/>
              </a:rPr>
              <a:t>Category:</a:t>
            </a:r>
            <a:endParaRPr sz="15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kurta:</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4959377.00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474.76</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10446.00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Set:</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10507546.00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848.00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12391.00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Western Dress:</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3148836.00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774.43</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4066.00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Top:</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1186199.00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540.90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2193.00</a:t>
            </a:r>
            <a:endParaRPr sz="1200">
              <a:solidFill>
                <a:schemeClr val="lt1"/>
              </a:solidFill>
              <a:latin typeface="Average"/>
              <a:ea typeface="Average"/>
              <a:cs typeface="Average"/>
              <a:sym typeface="Average"/>
            </a:endParaRPr>
          </a:p>
        </p:txBody>
      </p:sp>
      <p:sp>
        <p:nvSpPr>
          <p:cNvPr id="142" name="Google Shape;142;p26"/>
          <p:cNvSpPr txBox="1"/>
          <p:nvPr/>
        </p:nvSpPr>
        <p:spPr>
          <a:xfrm>
            <a:off x="4572125" y="245425"/>
            <a:ext cx="40620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Saree:</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1010471.00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732.23</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1380.00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Blouse:</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140888.00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615.23</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229.00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Ethnic Dress:</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195256.00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739.61</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264.00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Bottom:</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27804.00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356.46</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78.00</a:t>
            </a:r>
            <a:endParaRPr sz="1200">
              <a:solidFill>
                <a:schemeClr val="lt1"/>
              </a:solidFill>
              <a:latin typeface="Average"/>
              <a:ea typeface="Average"/>
              <a:cs typeface="Average"/>
              <a:sym typeface="Average"/>
            </a:endParaRPr>
          </a:p>
          <a:p>
            <a:pPr indent="0" lvl="0" marL="0" rtl="0" algn="l">
              <a:spcBef>
                <a:spcPts val="0"/>
              </a:spcBef>
              <a:spcAft>
                <a:spcPts val="0"/>
              </a:spcAft>
              <a:buNone/>
            </a:pPr>
            <a:r>
              <a:t/>
            </a:r>
            <a:endParaRPr sz="1900">
              <a:solidFill>
                <a:schemeClr val="lt1"/>
              </a:solidFill>
              <a:latin typeface="Average"/>
              <a:ea typeface="Average"/>
              <a:cs typeface="Average"/>
              <a:sym typeface="Averag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nvSpPr>
        <p:spPr>
          <a:xfrm>
            <a:off x="665825" y="245425"/>
            <a:ext cx="39063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600">
                <a:solidFill>
                  <a:schemeClr val="lt1"/>
                </a:solidFill>
                <a:latin typeface="Average"/>
                <a:ea typeface="Average"/>
                <a:cs typeface="Average"/>
                <a:sym typeface="Average"/>
              </a:rPr>
              <a:t>Channels:</a:t>
            </a:r>
            <a:endParaRPr sz="16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6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Myntra:</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4941540.00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681.22</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7254.00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Ajio:</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1331427.00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689.50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1931.00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Amazon:</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7519933.00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682.64</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11016.00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Flipkart:</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4573301.00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682.28</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6703.00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spcBef>
                <a:spcPts val="0"/>
              </a:spcBef>
              <a:spcAft>
                <a:spcPts val="0"/>
              </a:spcAft>
              <a:buNone/>
            </a:pPr>
            <a:r>
              <a:t/>
            </a:r>
            <a:endParaRPr sz="1200">
              <a:solidFill>
                <a:schemeClr val="lt1"/>
              </a:solidFill>
              <a:latin typeface="Average"/>
              <a:ea typeface="Average"/>
              <a:cs typeface="Average"/>
              <a:sym typeface="Average"/>
            </a:endParaRPr>
          </a:p>
        </p:txBody>
      </p:sp>
      <p:sp>
        <p:nvSpPr>
          <p:cNvPr id="148" name="Google Shape;148;p27"/>
          <p:cNvSpPr txBox="1"/>
          <p:nvPr/>
        </p:nvSpPr>
        <p:spPr>
          <a:xfrm>
            <a:off x="4572000" y="245425"/>
            <a:ext cx="40830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Meesho:</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927606.00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663.52</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1398.00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Others:</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867241.00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687.74</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1261.00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Nalli:</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1015329.00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684.18</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1484.00</a:t>
            </a:r>
            <a:endParaRPr sz="1200">
              <a:solidFill>
                <a:schemeClr val="lt1"/>
              </a:solidFill>
              <a:latin typeface="Average"/>
              <a:ea typeface="Average"/>
              <a:cs typeface="Average"/>
              <a:sym typeface="Average"/>
            </a:endParaRPr>
          </a:p>
          <a:p>
            <a:pPr indent="0" lvl="0" marL="0" rtl="0" algn="l">
              <a:spcBef>
                <a:spcPts val="0"/>
              </a:spcBef>
              <a:spcAft>
                <a:spcPts val="0"/>
              </a:spcAft>
              <a:buNone/>
            </a:pPr>
            <a:r>
              <a:t/>
            </a:r>
            <a:endParaRPr sz="1900">
              <a:solidFill>
                <a:schemeClr val="lt1"/>
              </a:solidFill>
              <a:latin typeface="Average"/>
              <a:ea typeface="Average"/>
              <a:cs typeface="Average"/>
              <a:sym typeface="Average"/>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8"/>
          <p:cNvSpPr txBox="1"/>
          <p:nvPr/>
        </p:nvSpPr>
        <p:spPr>
          <a:xfrm>
            <a:off x="665825" y="245425"/>
            <a:ext cx="26109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lt1"/>
                </a:solidFill>
                <a:latin typeface="Average"/>
                <a:ea typeface="Average"/>
                <a:cs typeface="Average"/>
                <a:sym typeface="Average"/>
              </a:rPr>
              <a:t>Size:</a:t>
            </a:r>
            <a:endParaRPr sz="15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XXL:</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2677640.00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658.71</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4065.00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L:</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3445476.00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669.80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5144.00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S:</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2923443.00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700.06</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4176.00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M:</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3772230.00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687.74</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5485.00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spcBef>
                <a:spcPts val="0"/>
              </a:spcBef>
              <a:spcAft>
                <a:spcPts val="0"/>
              </a:spcAft>
              <a:buNone/>
            </a:pPr>
            <a:r>
              <a:t/>
            </a:r>
            <a:endParaRPr sz="1200">
              <a:solidFill>
                <a:schemeClr val="lt1"/>
              </a:solidFill>
              <a:latin typeface="Average"/>
              <a:ea typeface="Average"/>
              <a:cs typeface="Average"/>
              <a:sym typeface="Average"/>
            </a:endParaRPr>
          </a:p>
        </p:txBody>
      </p:sp>
      <p:sp>
        <p:nvSpPr>
          <p:cNvPr id="154" name="Google Shape;154;p28"/>
          <p:cNvSpPr txBox="1"/>
          <p:nvPr/>
        </p:nvSpPr>
        <p:spPr>
          <a:xfrm>
            <a:off x="3276600" y="245425"/>
            <a:ext cx="26397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XL:</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2950033.00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664.87</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4437.00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XS:</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1774580.00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708.98</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2503.00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3XL:</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2259099.00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674.96</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3347.00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Free:</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1022905.00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726.50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1408.00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spcBef>
                <a:spcPts val="0"/>
              </a:spcBef>
              <a:spcAft>
                <a:spcPts val="0"/>
              </a:spcAft>
              <a:buNone/>
            </a:pPr>
            <a:r>
              <a:t/>
            </a:r>
            <a:endParaRPr sz="1900">
              <a:solidFill>
                <a:schemeClr val="lt1"/>
              </a:solidFill>
              <a:latin typeface="Average"/>
              <a:ea typeface="Average"/>
              <a:cs typeface="Average"/>
              <a:sym typeface="Average"/>
            </a:endParaRPr>
          </a:p>
        </p:txBody>
      </p:sp>
      <p:sp>
        <p:nvSpPr>
          <p:cNvPr id="155" name="Google Shape;155;p28"/>
          <p:cNvSpPr txBox="1"/>
          <p:nvPr/>
        </p:nvSpPr>
        <p:spPr>
          <a:xfrm>
            <a:off x="5916450" y="247500"/>
            <a:ext cx="29496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6XL:</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152198.00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731.72</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208.00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4XL:</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79734.00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705.61</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113.00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5XL:</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119039.00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739.37</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161.00</a:t>
            </a:r>
            <a:endParaRPr sz="1900">
              <a:solidFill>
                <a:schemeClr val="lt1"/>
              </a:solidFill>
              <a:latin typeface="Average"/>
              <a:ea typeface="Average"/>
              <a:cs typeface="Average"/>
              <a:sym typeface="Averag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nvSpPr>
        <p:spPr>
          <a:xfrm>
            <a:off x="665825" y="245425"/>
            <a:ext cx="39063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500">
                <a:solidFill>
                  <a:schemeClr val="lt1"/>
                </a:solidFill>
                <a:latin typeface="Average"/>
                <a:ea typeface="Average"/>
                <a:cs typeface="Average"/>
                <a:sym typeface="Average"/>
              </a:rPr>
              <a:t>Qty:</a:t>
            </a:r>
            <a:endParaRPr sz="15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1:</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20977245.00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679.07</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30891.00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2:</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151786.00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1167.58</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130.00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p:txBody>
      </p:sp>
      <p:sp>
        <p:nvSpPr>
          <p:cNvPr id="161" name="Google Shape;161;p29"/>
          <p:cNvSpPr txBox="1"/>
          <p:nvPr/>
        </p:nvSpPr>
        <p:spPr>
          <a:xfrm>
            <a:off x="4572000" y="245425"/>
            <a:ext cx="4083000" cy="47436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4:</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14004.00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2334.00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6.00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3:</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31167.00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1640.37</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19.00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Metrics for 5:</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Amount Spent: 2175.00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Average Amount Spent: 2175.00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rPr lang="en" sz="1200">
                <a:solidFill>
                  <a:schemeClr val="lt1"/>
                </a:solidFill>
                <a:latin typeface="Average"/>
                <a:ea typeface="Average"/>
                <a:cs typeface="Average"/>
                <a:sym typeface="Average"/>
              </a:rPr>
              <a:t>  Total Items: 1.00</a:t>
            </a:r>
            <a:endParaRPr sz="1200">
              <a:solidFill>
                <a:schemeClr val="lt1"/>
              </a:solidFill>
              <a:latin typeface="Average"/>
              <a:ea typeface="Average"/>
              <a:cs typeface="Average"/>
              <a:sym typeface="Average"/>
            </a:endParaRPr>
          </a:p>
          <a:p>
            <a:pPr indent="0" lvl="0" marL="0" rtl="0" algn="l">
              <a:lnSpc>
                <a:spcPct val="115000"/>
              </a:lnSpc>
              <a:spcBef>
                <a:spcPts val="0"/>
              </a:spcBef>
              <a:spcAft>
                <a:spcPts val="0"/>
              </a:spcAft>
              <a:buNone/>
            </a:pPr>
            <a:r>
              <a:t/>
            </a:r>
            <a:endParaRPr sz="1200">
              <a:solidFill>
                <a:schemeClr val="lt1"/>
              </a:solidFill>
              <a:latin typeface="Average"/>
              <a:ea typeface="Average"/>
              <a:cs typeface="Average"/>
              <a:sym typeface="Average"/>
            </a:endParaRPr>
          </a:p>
          <a:p>
            <a:pPr indent="0" lvl="0" marL="0" rtl="0" algn="l">
              <a:spcBef>
                <a:spcPts val="0"/>
              </a:spcBef>
              <a:spcAft>
                <a:spcPts val="0"/>
              </a:spcAft>
              <a:buNone/>
            </a:pPr>
            <a:r>
              <a:t/>
            </a:r>
            <a:endParaRPr sz="1900">
              <a:solidFill>
                <a:schemeClr val="lt1"/>
              </a:solidFill>
              <a:latin typeface="Average"/>
              <a:ea typeface="Average"/>
              <a:cs typeface="Average"/>
              <a:sym typeface="Average"/>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490250" y="145350"/>
            <a:ext cx="8196600" cy="45453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500">
                <a:latin typeface="Average"/>
                <a:ea typeface="Average"/>
                <a:cs typeface="Average"/>
                <a:sym typeface="Average"/>
              </a:rPr>
              <a:t>Other Data Insights:</a:t>
            </a:r>
            <a:endParaRPr b="1" sz="1500">
              <a:latin typeface="Average"/>
              <a:ea typeface="Average"/>
              <a:cs typeface="Average"/>
              <a:sym typeface="Average"/>
            </a:endParaRPr>
          </a:p>
          <a:p>
            <a:pPr indent="0" lvl="0" marL="0" rtl="0" algn="l">
              <a:lnSpc>
                <a:spcPct val="115000"/>
              </a:lnSpc>
              <a:spcBef>
                <a:spcPts val="0"/>
              </a:spcBef>
              <a:spcAft>
                <a:spcPts val="0"/>
              </a:spcAft>
              <a:buNone/>
            </a:pPr>
            <a:r>
              <a:rPr lang="en" sz="1200">
                <a:latin typeface="Average"/>
                <a:ea typeface="Average"/>
                <a:cs typeface="Average"/>
                <a:sym typeface="Average"/>
              </a:rPr>
              <a:t>Total number of Unique SKU : 5287</a:t>
            </a:r>
            <a:endParaRPr sz="1200">
              <a:latin typeface="Average"/>
              <a:ea typeface="Average"/>
              <a:cs typeface="Average"/>
              <a:sym typeface="Average"/>
            </a:endParaRPr>
          </a:p>
          <a:p>
            <a:pPr indent="0" lvl="0" marL="0" rtl="0" algn="l">
              <a:lnSpc>
                <a:spcPct val="115000"/>
              </a:lnSpc>
              <a:spcBef>
                <a:spcPts val="0"/>
              </a:spcBef>
              <a:spcAft>
                <a:spcPts val="0"/>
              </a:spcAft>
              <a:buNone/>
            </a:pPr>
            <a:r>
              <a:rPr lang="en" sz="1200">
                <a:latin typeface="Average"/>
                <a:ea typeface="Average"/>
                <a:cs typeface="Average"/>
                <a:sym typeface="Average"/>
              </a:rPr>
              <a:t>Total number of Unique Ship-City: 1860</a:t>
            </a:r>
            <a:endParaRPr sz="1200">
              <a:latin typeface="Average"/>
              <a:ea typeface="Average"/>
              <a:cs typeface="Average"/>
              <a:sym typeface="Average"/>
            </a:endParaRPr>
          </a:p>
          <a:p>
            <a:pPr indent="0" lvl="0" marL="0" rtl="0" algn="l">
              <a:lnSpc>
                <a:spcPct val="115000"/>
              </a:lnSpc>
              <a:spcBef>
                <a:spcPts val="0"/>
              </a:spcBef>
              <a:spcAft>
                <a:spcPts val="0"/>
              </a:spcAft>
              <a:buNone/>
            </a:pPr>
            <a:r>
              <a:rPr lang="en" sz="1200">
                <a:latin typeface="Average"/>
                <a:ea typeface="Average"/>
                <a:cs typeface="Average"/>
                <a:sym typeface="Average"/>
              </a:rPr>
              <a:t>Total number of Unique ship-state: 36 ( It includes union territories ) </a:t>
            </a:r>
            <a:endParaRPr sz="1200">
              <a:latin typeface="Average"/>
              <a:ea typeface="Average"/>
              <a:cs typeface="Average"/>
              <a:sym typeface="Average"/>
            </a:endParaRPr>
          </a:p>
          <a:p>
            <a:pPr indent="0" lvl="0" marL="0" rtl="0" algn="l">
              <a:lnSpc>
                <a:spcPct val="115000"/>
              </a:lnSpc>
              <a:spcBef>
                <a:spcPts val="0"/>
              </a:spcBef>
              <a:spcAft>
                <a:spcPts val="0"/>
              </a:spcAft>
              <a:buNone/>
            </a:pPr>
            <a:r>
              <a:rPr lang="en" sz="1200">
                <a:latin typeface="Average"/>
                <a:ea typeface="Average"/>
                <a:cs typeface="Average"/>
                <a:sym typeface="Average"/>
              </a:rPr>
              <a:t>Total number of Unique ship-postal-code: 4958</a:t>
            </a:r>
            <a:endParaRPr sz="1200">
              <a:latin typeface="Average"/>
              <a:ea typeface="Average"/>
              <a:cs typeface="Average"/>
              <a:sym typeface="Average"/>
            </a:endParaRPr>
          </a:p>
          <a:p>
            <a:pPr indent="0" lvl="0" marL="0" rtl="0" algn="l">
              <a:lnSpc>
                <a:spcPct val="115000"/>
              </a:lnSpc>
              <a:spcBef>
                <a:spcPts val="0"/>
              </a:spcBef>
              <a:spcAft>
                <a:spcPts val="0"/>
              </a:spcAft>
              <a:buNone/>
            </a:pPr>
            <a:r>
              <a:t/>
            </a:r>
            <a:endParaRPr sz="1200">
              <a:latin typeface="Average"/>
              <a:ea typeface="Average"/>
              <a:cs typeface="Average"/>
              <a:sym typeface="Average"/>
            </a:endParaRPr>
          </a:p>
          <a:p>
            <a:pPr indent="0" lvl="0" marL="0" rtl="0" algn="l">
              <a:lnSpc>
                <a:spcPct val="115000"/>
              </a:lnSpc>
              <a:spcBef>
                <a:spcPts val="0"/>
              </a:spcBef>
              <a:spcAft>
                <a:spcPts val="0"/>
              </a:spcAft>
              <a:buNone/>
            </a:pPr>
            <a:r>
              <a:rPr b="1" lang="en" sz="1500">
                <a:latin typeface="Average"/>
                <a:ea typeface="Average"/>
                <a:cs typeface="Average"/>
                <a:sym typeface="Average"/>
              </a:rPr>
              <a:t>Key Insights:</a:t>
            </a:r>
            <a:endParaRPr b="1" sz="1500">
              <a:latin typeface="Average"/>
              <a:ea typeface="Average"/>
              <a:cs typeface="Average"/>
              <a:sym typeface="Average"/>
            </a:endParaRPr>
          </a:p>
          <a:p>
            <a:pPr indent="-304800" lvl="0" marL="457200" rtl="0" algn="l">
              <a:lnSpc>
                <a:spcPct val="115000"/>
              </a:lnSpc>
              <a:spcBef>
                <a:spcPts val="1200"/>
              </a:spcBef>
              <a:spcAft>
                <a:spcPts val="0"/>
              </a:spcAft>
              <a:buSzPts val="1200"/>
              <a:buFont typeface="Average"/>
              <a:buChar char="●"/>
            </a:pPr>
            <a:r>
              <a:rPr lang="en" sz="1200">
                <a:latin typeface="Average"/>
                <a:ea typeface="Average"/>
                <a:cs typeface="Average"/>
                <a:sym typeface="Average"/>
              </a:rPr>
              <a:t>Men spent an average of 801.94 INR, while women spent 629.28 INR. But, The total items purchased by women are more compared to men, So the total revenue made from women is more compared to men.</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The average amount spent by the Groups are approximately the same. But,  The total items purchased by the Adult group are higher than the Teenager group and the Senior group.</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The month of March has the highest sale around the year having an average of 683.95 INR.</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Total Items delivered throughout the year is 28641 which made the total revenue of the store of 1,97,10,544.00 INR.</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The most sold item throughout the year 2022  is Set with 12391 purchases.Total amount spent on Set: 10507546.00 INR</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The least sold category throughout the year 2022 is Bottom with 78 purchases.Total amount spent on Bottom: 27804.00 INR</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Maharashtra leads in sales, contributing 4519 purchases and 29,90,221.00 INR of the total revenue.</a:t>
            </a:r>
            <a:endParaRPr sz="1200">
              <a:latin typeface="Average"/>
              <a:ea typeface="Average"/>
              <a:cs typeface="Average"/>
              <a:sym typeface="Average"/>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1"/>
          <p:cNvSpPr txBox="1"/>
          <p:nvPr>
            <p:ph type="title"/>
          </p:nvPr>
        </p:nvSpPr>
        <p:spPr>
          <a:xfrm>
            <a:off x="490250" y="297750"/>
            <a:ext cx="8196600" cy="4090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The total number of items which are cancelled, refunded, returned and the amount the store has booked loss are : </a:t>
            </a:r>
            <a:endParaRPr sz="1200">
              <a:latin typeface="Average"/>
              <a:ea typeface="Average"/>
              <a:cs typeface="Average"/>
              <a:sym typeface="Average"/>
            </a:endParaRPr>
          </a:p>
          <a:p>
            <a:pPr indent="-304800" lvl="1" marL="914400" rtl="0" algn="l">
              <a:lnSpc>
                <a:spcPct val="115000"/>
              </a:lnSpc>
              <a:spcBef>
                <a:spcPts val="0"/>
              </a:spcBef>
              <a:spcAft>
                <a:spcPts val="0"/>
              </a:spcAft>
              <a:buSzPts val="1200"/>
              <a:buFont typeface="Average"/>
              <a:buChar char="○"/>
            </a:pPr>
            <a:r>
              <a:rPr lang="en" sz="1200">
                <a:latin typeface="Average"/>
                <a:ea typeface="Average"/>
                <a:cs typeface="Average"/>
                <a:sym typeface="Average"/>
              </a:rPr>
              <a:t>Refunded:</a:t>
            </a:r>
            <a:endParaRPr sz="1200">
              <a:latin typeface="Average"/>
              <a:ea typeface="Average"/>
              <a:cs typeface="Average"/>
              <a:sym typeface="Average"/>
            </a:endParaRPr>
          </a:p>
          <a:p>
            <a:pPr indent="-304800" lvl="2" marL="1371600" rtl="0" algn="l">
              <a:lnSpc>
                <a:spcPct val="115000"/>
              </a:lnSpc>
              <a:spcBef>
                <a:spcPts val="0"/>
              </a:spcBef>
              <a:spcAft>
                <a:spcPts val="0"/>
              </a:spcAft>
              <a:buSzPts val="1200"/>
              <a:buFont typeface="Average"/>
              <a:buChar char="■"/>
            </a:pPr>
            <a:r>
              <a:rPr lang="en" sz="1200">
                <a:latin typeface="Average"/>
                <a:ea typeface="Average"/>
                <a:cs typeface="Average"/>
                <a:sym typeface="Average"/>
              </a:rPr>
              <a:t>Total Amount Spent: 264842.00 INR</a:t>
            </a:r>
            <a:endParaRPr sz="1200">
              <a:latin typeface="Average"/>
              <a:ea typeface="Average"/>
              <a:cs typeface="Average"/>
              <a:sym typeface="Average"/>
            </a:endParaRPr>
          </a:p>
          <a:p>
            <a:pPr indent="-304800" lvl="2" marL="1371600" rtl="0" algn="l">
              <a:lnSpc>
                <a:spcPct val="115000"/>
              </a:lnSpc>
              <a:spcBef>
                <a:spcPts val="0"/>
              </a:spcBef>
              <a:spcAft>
                <a:spcPts val="0"/>
              </a:spcAft>
              <a:buSzPts val="1200"/>
              <a:buFont typeface="Average"/>
              <a:buChar char="■"/>
            </a:pPr>
            <a:r>
              <a:rPr lang="en" sz="1200">
                <a:latin typeface="Average"/>
                <a:ea typeface="Average"/>
                <a:cs typeface="Average"/>
                <a:sym typeface="Average"/>
              </a:rPr>
              <a:t>Total Items: 517</a:t>
            </a:r>
            <a:endParaRPr sz="1200">
              <a:latin typeface="Average"/>
              <a:ea typeface="Average"/>
              <a:cs typeface="Average"/>
              <a:sym typeface="Average"/>
            </a:endParaRPr>
          </a:p>
          <a:p>
            <a:pPr indent="0" lvl="0" marL="914400" rtl="0" algn="l">
              <a:lnSpc>
                <a:spcPct val="115000"/>
              </a:lnSpc>
              <a:spcBef>
                <a:spcPts val="0"/>
              </a:spcBef>
              <a:spcAft>
                <a:spcPts val="0"/>
              </a:spcAft>
              <a:buNone/>
            </a:pPr>
            <a:r>
              <a:t/>
            </a:r>
            <a:endParaRPr sz="1200">
              <a:latin typeface="Average"/>
              <a:ea typeface="Average"/>
              <a:cs typeface="Average"/>
              <a:sym typeface="Average"/>
            </a:endParaRPr>
          </a:p>
          <a:p>
            <a:pPr indent="-304800" lvl="1" marL="914400" rtl="0" algn="l">
              <a:lnSpc>
                <a:spcPct val="115000"/>
              </a:lnSpc>
              <a:spcBef>
                <a:spcPts val="0"/>
              </a:spcBef>
              <a:spcAft>
                <a:spcPts val="0"/>
              </a:spcAft>
              <a:buSzPts val="1200"/>
              <a:buFont typeface="Average"/>
              <a:buChar char="○"/>
            </a:pPr>
            <a:r>
              <a:rPr lang="en" sz="1200">
                <a:latin typeface="Average"/>
                <a:ea typeface="Average"/>
                <a:cs typeface="Average"/>
                <a:sym typeface="Average"/>
              </a:rPr>
              <a:t>Cancelled:</a:t>
            </a:r>
            <a:endParaRPr sz="1200">
              <a:latin typeface="Average"/>
              <a:ea typeface="Average"/>
              <a:cs typeface="Average"/>
              <a:sym typeface="Average"/>
            </a:endParaRPr>
          </a:p>
          <a:p>
            <a:pPr indent="-304800" lvl="2" marL="1371600" rtl="0" algn="l">
              <a:lnSpc>
                <a:spcPct val="115000"/>
              </a:lnSpc>
              <a:spcBef>
                <a:spcPts val="0"/>
              </a:spcBef>
              <a:spcAft>
                <a:spcPts val="0"/>
              </a:spcAft>
              <a:buSzPts val="1200"/>
              <a:buFont typeface="Average"/>
              <a:buChar char="■"/>
            </a:pPr>
            <a:r>
              <a:rPr lang="en" sz="1200">
                <a:latin typeface="Average"/>
                <a:ea typeface="Average"/>
                <a:cs typeface="Average"/>
                <a:sym typeface="Average"/>
              </a:rPr>
              <a:t>  Total Amount Spent: 481844.00 INR</a:t>
            </a:r>
            <a:endParaRPr sz="1200">
              <a:latin typeface="Average"/>
              <a:ea typeface="Average"/>
              <a:cs typeface="Average"/>
              <a:sym typeface="Average"/>
            </a:endParaRPr>
          </a:p>
          <a:p>
            <a:pPr indent="-304800" lvl="2" marL="1371600" rtl="0" algn="l">
              <a:lnSpc>
                <a:spcPct val="115000"/>
              </a:lnSpc>
              <a:spcBef>
                <a:spcPts val="0"/>
              </a:spcBef>
              <a:spcAft>
                <a:spcPts val="0"/>
              </a:spcAft>
              <a:buSzPts val="1200"/>
              <a:buFont typeface="Average"/>
              <a:buChar char="■"/>
            </a:pPr>
            <a:r>
              <a:rPr lang="en" sz="1200">
                <a:latin typeface="Average"/>
                <a:ea typeface="Average"/>
                <a:cs typeface="Average"/>
                <a:sym typeface="Average"/>
              </a:rPr>
              <a:t>  Total Items: 844</a:t>
            </a:r>
            <a:endParaRPr sz="1200">
              <a:latin typeface="Average"/>
              <a:ea typeface="Average"/>
              <a:cs typeface="Average"/>
              <a:sym typeface="Average"/>
            </a:endParaRPr>
          </a:p>
          <a:p>
            <a:pPr indent="-304800" lvl="1" marL="914400" rtl="0" algn="l">
              <a:lnSpc>
                <a:spcPct val="115000"/>
              </a:lnSpc>
              <a:spcBef>
                <a:spcPts val="0"/>
              </a:spcBef>
              <a:spcAft>
                <a:spcPts val="0"/>
              </a:spcAft>
              <a:buSzPts val="1200"/>
              <a:buFont typeface="Average"/>
              <a:buChar char="○"/>
            </a:pPr>
            <a:r>
              <a:t/>
            </a:r>
            <a:endParaRPr sz="1200">
              <a:latin typeface="Average"/>
              <a:ea typeface="Average"/>
              <a:cs typeface="Average"/>
              <a:sym typeface="Average"/>
            </a:endParaRPr>
          </a:p>
          <a:p>
            <a:pPr indent="-304800" lvl="1" marL="914400" rtl="0" algn="l">
              <a:lnSpc>
                <a:spcPct val="115000"/>
              </a:lnSpc>
              <a:spcBef>
                <a:spcPts val="0"/>
              </a:spcBef>
              <a:spcAft>
                <a:spcPts val="0"/>
              </a:spcAft>
              <a:buSzPts val="1200"/>
              <a:buFont typeface="Average"/>
              <a:buChar char="○"/>
            </a:pPr>
            <a:r>
              <a:rPr lang="en" sz="1200">
                <a:latin typeface="Average"/>
                <a:ea typeface="Average"/>
                <a:cs typeface="Average"/>
                <a:sym typeface="Average"/>
              </a:rPr>
              <a:t>Returned:</a:t>
            </a:r>
            <a:endParaRPr sz="1200">
              <a:latin typeface="Average"/>
              <a:ea typeface="Average"/>
              <a:cs typeface="Average"/>
              <a:sym typeface="Average"/>
            </a:endParaRPr>
          </a:p>
          <a:p>
            <a:pPr indent="-304800" lvl="2" marL="1371600" rtl="0" algn="l">
              <a:lnSpc>
                <a:spcPct val="115000"/>
              </a:lnSpc>
              <a:spcBef>
                <a:spcPts val="0"/>
              </a:spcBef>
              <a:spcAft>
                <a:spcPts val="0"/>
              </a:spcAft>
              <a:buSzPts val="1200"/>
              <a:buFont typeface="Average"/>
              <a:buChar char="■"/>
            </a:pPr>
            <a:r>
              <a:rPr lang="en" sz="1200">
                <a:latin typeface="Average"/>
                <a:ea typeface="Average"/>
                <a:cs typeface="Average"/>
                <a:sym typeface="Average"/>
              </a:rPr>
              <a:t>  Total Amount Spent: 719147.00 INR</a:t>
            </a:r>
            <a:endParaRPr sz="1200">
              <a:latin typeface="Average"/>
              <a:ea typeface="Average"/>
              <a:cs typeface="Average"/>
              <a:sym typeface="Average"/>
            </a:endParaRPr>
          </a:p>
          <a:p>
            <a:pPr indent="-304800" lvl="2" marL="1371600" rtl="0" algn="l">
              <a:lnSpc>
                <a:spcPct val="115000"/>
              </a:lnSpc>
              <a:spcBef>
                <a:spcPts val="0"/>
              </a:spcBef>
              <a:spcAft>
                <a:spcPts val="0"/>
              </a:spcAft>
              <a:buSzPts val="1200"/>
              <a:buFont typeface="Average"/>
              <a:buChar char="■"/>
            </a:pPr>
            <a:r>
              <a:rPr lang="en" sz="1200">
                <a:latin typeface="Average"/>
                <a:ea typeface="Average"/>
                <a:cs typeface="Average"/>
                <a:sym typeface="Average"/>
              </a:rPr>
              <a:t>  Total Items: 1045</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The most used channel to buy is Amazon with 11016 purchases.Total amount spent on Amazon: 7519933.00 INR</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The total number of Unique SKU which are sold is 5287.</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The orders are mostly by different customers but the customer ID 4984515 has purchased the maximum number of items, 12 items of amount 6489.00 INR.</a:t>
            </a:r>
            <a:endParaRPr sz="1200">
              <a:latin typeface="Average"/>
              <a:ea typeface="Average"/>
              <a:cs typeface="Average"/>
              <a:sym typeface="Average"/>
            </a:endParaRPr>
          </a:p>
          <a:p>
            <a:pPr indent="-304800" lvl="0" marL="457200" rtl="0" algn="l">
              <a:lnSpc>
                <a:spcPct val="115000"/>
              </a:lnSpc>
              <a:spcBef>
                <a:spcPts val="0"/>
              </a:spcBef>
              <a:spcAft>
                <a:spcPts val="0"/>
              </a:spcAft>
              <a:buSzPts val="1200"/>
              <a:buFont typeface="Average"/>
              <a:buChar char="●"/>
            </a:pPr>
            <a:r>
              <a:rPr lang="en" sz="1200">
                <a:latin typeface="Average"/>
                <a:ea typeface="Average"/>
                <a:cs typeface="Average"/>
                <a:sym typeface="Average"/>
              </a:rPr>
              <a:t>The Total number of Customers which have done B2B is 177 and the total amount spend is 120221.00 INR.</a:t>
            </a:r>
            <a:endParaRPr sz="1200">
              <a:latin typeface="Average"/>
              <a:ea typeface="Average"/>
              <a:cs typeface="Average"/>
              <a:sym typeface="Average"/>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Insights Based on Graphs:</a:t>
            </a:r>
            <a:endParaRPr/>
          </a:p>
        </p:txBody>
      </p:sp>
      <p:sp>
        <p:nvSpPr>
          <p:cNvPr id="177" name="Google Shape;177;p32"/>
          <p:cNvSpPr txBox="1"/>
          <p:nvPr>
            <p:ph idx="1" type="body"/>
          </p:nvPr>
        </p:nvSpPr>
        <p:spPr>
          <a:xfrm>
            <a:off x="4572000" y="1000075"/>
            <a:ext cx="4260300" cy="3780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The pie chart of Revenue Contribution from Men vs Women is made in python.</a:t>
            </a:r>
            <a:endParaRPr sz="1600"/>
          </a:p>
          <a:p>
            <a:pPr indent="-330200" lvl="0" marL="457200" rtl="0" algn="l">
              <a:spcBef>
                <a:spcPts val="0"/>
              </a:spcBef>
              <a:spcAft>
                <a:spcPts val="0"/>
              </a:spcAft>
              <a:buSzPts val="1600"/>
              <a:buAutoNum type="arabicPeriod"/>
            </a:pPr>
            <a:r>
              <a:rPr lang="en" sz="1600"/>
              <a:t>It consists of percentage values based on values :</a:t>
            </a:r>
            <a:endParaRPr sz="1600"/>
          </a:p>
          <a:p>
            <a:pPr indent="0" lvl="0" marL="0" rtl="0" algn="l">
              <a:spcBef>
                <a:spcPts val="1600"/>
              </a:spcBef>
              <a:spcAft>
                <a:spcPts val="0"/>
              </a:spcAft>
              <a:buNone/>
            </a:pPr>
            <a:r>
              <a:rPr lang="en" sz="1600"/>
              <a:t>Total_revenue_men = 76,13,604.00 INR</a:t>
            </a:r>
            <a:endParaRPr sz="1600"/>
          </a:p>
          <a:p>
            <a:pPr indent="0" lvl="0" marL="0" rtl="0" algn="l">
              <a:spcBef>
                <a:spcPts val="1600"/>
              </a:spcBef>
              <a:spcAft>
                <a:spcPts val="0"/>
              </a:spcAft>
              <a:buNone/>
            </a:pPr>
            <a:r>
              <a:rPr lang="en" sz="1600"/>
              <a:t>Total_revenue_women = 1,35,62,773.00 INR</a:t>
            </a:r>
            <a:endParaRPr sz="1600"/>
          </a:p>
          <a:p>
            <a:pPr indent="-330200" lvl="0" marL="457200" rtl="0" algn="l">
              <a:spcBef>
                <a:spcPts val="1600"/>
              </a:spcBef>
              <a:spcAft>
                <a:spcPts val="0"/>
              </a:spcAft>
              <a:buSzPts val="1600"/>
              <a:buAutoNum type="arabicPeriod"/>
            </a:pPr>
            <a:r>
              <a:rPr lang="en" sz="1600"/>
              <a:t>It shows that women have made a great contribution in the total revenue by 64%.</a:t>
            </a:r>
            <a:endParaRPr sz="1600"/>
          </a:p>
        </p:txBody>
      </p:sp>
      <p:pic>
        <p:nvPicPr>
          <p:cNvPr id="178" name="Google Shape;178;p32"/>
          <p:cNvPicPr preferRelativeResize="0"/>
          <p:nvPr/>
        </p:nvPicPr>
        <p:blipFill>
          <a:blip r:embed="rId3">
            <a:alphaModFix/>
          </a:blip>
          <a:stretch>
            <a:fillRect/>
          </a:stretch>
        </p:blipFill>
        <p:spPr>
          <a:xfrm>
            <a:off x="464100" y="1000075"/>
            <a:ext cx="4107900" cy="37803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idx="1" type="body"/>
          </p:nvPr>
        </p:nvSpPr>
        <p:spPr>
          <a:xfrm>
            <a:off x="235500" y="605400"/>
            <a:ext cx="4260300" cy="3780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The pie chart of Revenue Contribution from Group column is made in python.</a:t>
            </a:r>
            <a:endParaRPr sz="1600"/>
          </a:p>
          <a:p>
            <a:pPr indent="-330200" lvl="0" marL="457200" rtl="0" algn="l">
              <a:spcBef>
                <a:spcPts val="0"/>
              </a:spcBef>
              <a:spcAft>
                <a:spcPts val="0"/>
              </a:spcAft>
              <a:buSzPts val="1600"/>
              <a:buAutoNum type="arabicPeriod"/>
            </a:pPr>
            <a:r>
              <a:rPr lang="en" sz="1600"/>
              <a:t>It consists of percentage values based on values :</a:t>
            </a:r>
            <a:endParaRPr sz="1600"/>
          </a:p>
          <a:p>
            <a:pPr indent="0" lvl="0" marL="0" rtl="0" algn="l">
              <a:spcBef>
                <a:spcPts val="1600"/>
              </a:spcBef>
              <a:spcAft>
                <a:spcPts val="0"/>
              </a:spcAft>
              <a:buNone/>
            </a:pPr>
            <a:r>
              <a:rPr lang="en" sz="1600"/>
              <a:t>Total_</a:t>
            </a:r>
            <a:r>
              <a:rPr lang="en" sz="1600"/>
              <a:t>revenue_teen = 42,21,619.00 INR</a:t>
            </a:r>
            <a:endParaRPr sz="1600"/>
          </a:p>
          <a:p>
            <a:pPr indent="0" lvl="0" marL="0" rtl="0" algn="l">
              <a:spcBef>
                <a:spcPts val="1600"/>
              </a:spcBef>
              <a:spcAft>
                <a:spcPts val="0"/>
              </a:spcAft>
              <a:buNone/>
            </a:pPr>
            <a:r>
              <a:rPr lang="en" sz="1600"/>
              <a:t>Total_revenue_adult = 1,29,28,106.00 INR</a:t>
            </a:r>
            <a:endParaRPr sz="1600"/>
          </a:p>
          <a:p>
            <a:pPr indent="0" lvl="0" marL="0" rtl="0" algn="l">
              <a:spcBef>
                <a:spcPts val="1600"/>
              </a:spcBef>
              <a:spcAft>
                <a:spcPts val="0"/>
              </a:spcAft>
              <a:buNone/>
            </a:pPr>
            <a:r>
              <a:rPr lang="en" sz="1600"/>
              <a:t>Total_revenue_senior = 4026652.00 INR</a:t>
            </a:r>
            <a:endParaRPr sz="1600"/>
          </a:p>
          <a:p>
            <a:pPr indent="-330200" lvl="0" marL="457200" rtl="0" algn="l">
              <a:spcBef>
                <a:spcPts val="1600"/>
              </a:spcBef>
              <a:spcAft>
                <a:spcPts val="0"/>
              </a:spcAft>
              <a:buSzPts val="1600"/>
              <a:buAutoNum type="arabicPeriod"/>
            </a:pPr>
            <a:r>
              <a:rPr lang="en" sz="1600"/>
              <a:t>It shows that Adults have made a great contribution in the total revenue by 61.1%</a:t>
            </a:r>
            <a:endParaRPr sz="1600"/>
          </a:p>
        </p:txBody>
      </p:sp>
      <p:pic>
        <p:nvPicPr>
          <p:cNvPr id="184" name="Google Shape;184;p33"/>
          <p:cNvPicPr preferRelativeResize="0"/>
          <p:nvPr/>
        </p:nvPicPr>
        <p:blipFill>
          <a:blip r:embed="rId3">
            <a:alphaModFix/>
          </a:blip>
          <a:stretch>
            <a:fillRect/>
          </a:stretch>
        </p:blipFill>
        <p:spPr>
          <a:xfrm>
            <a:off x="4492350" y="653162"/>
            <a:ext cx="4419600" cy="3712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idx="1" type="body"/>
          </p:nvPr>
        </p:nvSpPr>
        <p:spPr>
          <a:xfrm>
            <a:off x="4572000" y="695275"/>
            <a:ext cx="4260300" cy="40164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The line chart of Revenue Contribution for each month is made in python.</a:t>
            </a:r>
            <a:endParaRPr sz="1600"/>
          </a:p>
          <a:p>
            <a:pPr indent="-330200" lvl="0" marL="457200" rtl="0" algn="l">
              <a:spcBef>
                <a:spcPts val="0"/>
              </a:spcBef>
              <a:spcAft>
                <a:spcPts val="0"/>
              </a:spcAft>
              <a:buSzPts val="1600"/>
              <a:buAutoNum type="arabicPeriod"/>
            </a:pPr>
            <a:r>
              <a:rPr lang="en" sz="1600"/>
              <a:t>X - Axis : Months</a:t>
            </a:r>
            <a:endParaRPr sz="1600"/>
          </a:p>
          <a:p>
            <a:pPr indent="-330200" lvl="0" marL="457200" rtl="0" algn="l">
              <a:spcBef>
                <a:spcPts val="0"/>
              </a:spcBef>
              <a:spcAft>
                <a:spcPts val="0"/>
              </a:spcAft>
              <a:buSzPts val="1600"/>
              <a:buAutoNum type="arabicPeriod"/>
            </a:pPr>
            <a:r>
              <a:rPr lang="en" sz="1600"/>
              <a:t>Y - Axis : Total Revenue </a:t>
            </a:r>
            <a:endParaRPr sz="1600"/>
          </a:p>
          <a:p>
            <a:pPr indent="-330200" lvl="0" marL="457200" rtl="0" algn="l">
              <a:spcBef>
                <a:spcPts val="0"/>
              </a:spcBef>
              <a:spcAft>
                <a:spcPts val="0"/>
              </a:spcAft>
              <a:buSzPts val="1600"/>
              <a:buAutoNum type="arabicPeriod"/>
            </a:pPr>
            <a:r>
              <a:rPr lang="en" sz="1600"/>
              <a:t>Max: March month has </a:t>
            </a:r>
            <a:r>
              <a:rPr lang="en" sz="1500">
                <a:solidFill>
                  <a:schemeClr val="dk1"/>
                </a:solidFill>
              </a:rPr>
              <a:t>1928066.00 INR</a:t>
            </a:r>
            <a:endParaRPr sz="1500">
              <a:solidFill>
                <a:schemeClr val="dk1"/>
              </a:solidFill>
            </a:endParaRPr>
          </a:p>
          <a:p>
            <a:pPr indent="-330200" lvl="0" marL="457200" rtl="0" algn="l">
              <a:spcBef>
                <a:spcPts val="0"/>
              </a:spcBef>
              <a:spcAft>
                <a:spcPts val="0"/>
              </a:spcAft>
              <a:buSzPts val="1600"/>
              <a:buAutoNum type="arabicPeriod"/>
            </a:pPr>
            <a:r>
              <a:rPr lang="en" sz="1600"/>
              <a:t>Min: November month has </a:t>
            </a:r>
            <a:r>
              <a:rPr lang="en" sz="1500">
                <a:solidFill>
                  <a:schemeClr val="dk1"/>
                </a:solidFill>
              </a:rPr>
              <a:t>1615356.00 INR</a:t>
            </a:r>
            <a:endParaRPr sz="1600"/>
          </a:p>
          <a:p>
            <a:pPr indent="-330200" lvl="0" marL="457200" rtl="0" algn="l">
              <a:spcBef>
                <a:spcPts val="0"/>
              </a:spcBef>
              <a:spcAft>
                <a:spcPts val="0"/>
              </a:spcAft>
              <a:buSzPts val="1600"/>
              <a:buAutoNum type="arabicPeriod"/>
            </a:pPr>
            <a:r>
              <a:rPr lang="en" sz="1600"/>
              <a:t>It shows that there is a sudden drop in the total revenue from month of </a:t>
            </a:r>
            <a:endParaRPr sz="1600"/>
          </a:p>
          <a:p>
            <a:pPr indent="457200" lvl="0" marL="457200" rtl="0" algn="l">
              <a:spcBef>
                <a:spcPts val="0"/>
              </a:spcBef>
              <a:spcAft>
                <a:spcPts val="0"/>
              </a:spcAft>
              <a:buNone/>
            </a:pPr>
            <a:r>
              <a:rPr lang="en" sz="1600"/>
              <a:t>Mar - Jun —-&gt; -ve impact</a:t>
            </a:r>
            <a:endParaRPr sz="1600"/>
          </a:p>
          <a:p>
            <a:pPr indent="457200" lvl="0" marL="457200" rtl="0" algn="l">
              <a:spcBef>
                <a:spcPts val="0"/>
              </a:spcBef>
              <a:spcAft>
                <a:spcPts val="0"/>
              </a:spcAft>
              <a:buNone/>
            </a:pPr>
            <a:r>
              <a:rPr lang="en" sz="1600"/>
              <a:t>Aug - Nov —-&gt; -ve impact</a:t>
            </a:r>
            <a:endParaRPr sz="1600"/>
          </a:p>
          <a:p>
            <a:pPr indent="0" lvl="0" marL="457200" rtl="0" algn="l">
              <a:spcBef>
                <a:spcPts val="0"/>
              </a:spcBef>
              <a:spcAft>
                <a:spcPts val="0"/>
              </a:spcAft>
              <a:buNone/>
            </a:pPr>
            <a:r>
              <a:rPr lang="en" sz="1600"/>
              <a:t>But, The Revenue of the months from:</a:t>
            </a:r>
            <a:endParaRPr sz="1600"/>
          </a:p>
          <a:p>
            <a:pPr indent="0" lvl="0" marL="457200" rtl="0" algn="l">
              <a:spcBef>
                <a:spcPts val="0"/>
              </a:spcBef>
              <a:spcAft>
                <a:spcPts val="0"/>
              </a:spcAft>
              <a:buNone/>
            </a:pPr>
            <a:r>
              <a:rPr lang="en" sz="1600"/>
              <a:t>	Jan - March —-&gt; +ve impact</a:t>
            </a:r>
            <a:endParaRPr sz="1600"/>
          </a:p>
          <a:p>
            <a:pPr indent="0" lvl="0" marL="457200" rtl="0" algn="l">
              <a:spcBef>
                <a:spcPts val="0"/>
              </a:spcBef>
              <a:spcAft>
                <a:spcPts val="0"/>
              </a:spcAft>
              <a:buNone/>
            </a:pPr>
            <a:r>
              <a:rPr lang="en" sz="1600"/>
              <a:t>	Jun - Aug —-&gt; +ve impact</a:t>
            </a:r>
            <a:endParaRPr sz="1600"/>
          </a:p>
        </p:txBody>
      </p:sp>
      <p:pic>
        <p:nvPicPr>
          <p:cNvPr id="190" name="Google Shape;190;p34"/>
          <p:cNvPicPr preferRelativeResize="0"/>
          <p:nvPr/>
        </p:nvPicPr>
        <p:blipFill>
          <a:blip r:embed="rId3">
            <a:alphaModFix/>
          </a:blip>
          <a:stretch>
            <a:fillRect/>
          </a:stretch>
        </p:blipFill>
        <p:spPr>
          <a:xfrm>
            <a:off x="152400" y="722776"/>
            <a:ext cx="4419600" cy="37803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idx="1" type="body"/>
          </p:nvPr>
        </p:nvSpPr>
        <p:spPr>
          <a:xfrm>
            <a:off x="304800" y="619075"/>
            <a:ext cx="4260300" cy="3780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The 3D pie chart of No. of Orders vs Channel column is made in EXCEL.</a:t>
            </a:r>
            <a:endParaRPr sz="1600"/>
          </a:p>
          <a:p>
            <a:pPr indent="-330200" lvl="0" marL="457200" rtl="0" algn="l">
              <a:spcBef>
                <a:spcPts val="0"/>
              </a:spcBef>
              <a:spcAft>
                <a:spcPts val="0"/>
              </a:spcAft>
              <a:buSzPts val="1600"/>
              <a:buAutoNum type="arabicPeriod"/>
            </a:pPr>
            <a:r>
              <a:rPr lang="en" sz="1600"/>
              <a:t>It consists of percentage values based on Count of Orders through the Channel :</a:t>
            </a:r>
            <a:endParaRPr sz="1600"/>
          </a:p>
          <a:p>
            <a:pPr indent="0" lvl="0" marL="0" rtl="0" algn="l">
              <a:spcBef>
                <a:spcPts val="1600"/>
              </a:spcBef>
              <a:spcAft>
                <a:spcPts val="0"/>
              </a:spcAft>
              <a:buNone/>
            </a:pPr>
            <a:r>
              <a:rPr lang="en" sz="1600"/>
              <a:t>Max : Amazon is leading by approx. 35% of Total numbers of order in the year 2022.</a:t>
            </a:r>
            <a:endParaRPr sz="1600"/>
          </a:p>
          <a:p>
            <a:pPr indent="-330200" lvl="0" marL="457200" rtl="0" algn="l">
              <a:spcBef>
                <a:spcPts val="1600"/>
              </a:spcBef>
              <a:spcAft>
                <a:spcPts val="0"/>
              </a:spcAft>
              <a:buSzPts val="1600"/>
              <a:buAutoNum type="arabicPeriod"/>
            </a:pPr>
            <a:r>
              <a:rPr lang="en" sz="1600"/>
              <a:t>It shows that Maximum of orders are from major 3 Channels which are Amazon, Myntra, Flipkart by approx. 80%.</a:t>
            </a:r>
            <a:endParaRPr sz="1600"/>
          </a:p>
        </p:txBody>
      </p:sp>
      <p:pic>
        <p:nvPicPr>
          <p:cNvPr id="196" name="Google Shape;196;p35" title="Chart"/>
          <p:cNvPicPr preferRelativeResize="0"/>
          <p:nvPr/>
        </p:nvPicPr>
        <p:blipFill>
          <a:blip r:embed="rId3">
            <a:alphaModFix/>
          </a:blip>
          <a:stretch>
            <a:fillRect/>
          </a:stretch>
        </p:blipFill>
        <p:spPr>
          <a:xfrm>
            <a:off x="4572000" y="619075"/>
            <a:ext cx="4267201" cy="378029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idx="1" type="body"/>
          </p:nvPr>
        </p:nvSpPr>
        <p:spPr>
          <a:xfrm>
            <a:off x="4572000" y="619075"/>
            <a:ext cx="4260300" cy="37803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The </a:t>
            </a:r>
            <a:r>
              <a:rPr lang="en" sz="1600"/>
              <a:t>Doughnut</a:t>
            </a:r>
            <a:r>
              <a:rPr lang="en" sz="1600"/>
              <a:t> pie chart of Status column is made in EXCEL.</a:t>
            </a:r>
            <a:endParaRPr sz="1600"/>
          </a:p>
          <a:p>
            <a:pPr indent="-330200" lvl="0" marL="457200" rtl="0" algn="l">
              <a:spcBef>
                <a:spcPts val="0"/>
              </a:spcBef>
              <a:spcAft>
                <a:spcPts val="0"/>
              </a:spcAft>
              <a:buSzPts val="1600"/>
              <a:buAutoNum type="arabicPeriod"/>
            </a:pPr>
            <a:r>
              <a:rPr lang="en" sz="1600"/>
              <a:t>It cons</a:t>
            </a:r>
            <a:r>
              <a:rPr lang="en" sz="1600"/>
              <a:t>i</a:t>
            </a:r>
            <a:r>
              <a:rPr lang="en" sz="1600"/>
              <a:t>sts of percentage values based on Count of Orders having Status :</a:t>
            </a:r>
            <a:endParaRPr sz="1600"/>
          </a:p>
          <a:p>
            <a:pPr indent="0" lvl="0" marL="457200" rtl="0" algn="l">
              <a:spcBef>
                <a:spcPts val="1600"/>
              </a:spcBef>
              <a:spcAft>
                <a:spcPts val="0"/>
              </a:spcAft>
              <a:buNone/>
            </a:pPr>
            <a:r>
              <a:rPr lang="en" sz="1600"/>
              <a:t>Profit_booked_orders = approx. 92%</a:t>
            </a:r>
            <a:endParaRPr sz="1600"/>
          </a:p>
          <a:p>
            <a:pPr indent="0" lvl="0" marL="457200" rtl="0" algn="l">
              <a:spcBef>
                <a:spcPts val="1600"/>
              </a:spcBef>
              <a:spcAft>
                <a:spcPts val="0"/>
              </a:spcAft>
              <a:buNone/>
            </a:pPr>
            <a:r>
              <a:rPr lang="en" sz="1600"/>
              <a:t>Loss_booked_orders = </a:t>
            </a:r>
            <a:r>
              <a:rPr lang="en" sz="1600"/>
              <a:t>approx</a:t>
            </a:r>
            <a:r>
              <a:rPr lang="en" sz="1600"/>
              <a:t>. 8%</a:t>
            </a:r>
            <a:endParaRPr sz="1600"/>
          </a:p>
          <a:p>
            <a:pPr indent="-330200" lvl="0" marL="457200" rtl="0" algn="l">
              <a:spcBef>
                <a:spcPts val="1600"/>
              </a:spcBef>
              <a:spcAft>
                <a:spcPts val="0"/>
              </a:spcAft>
              <a:buSzPts val="1600"/>
              <a:buAutoNum type="arabicPeriod"/>
            </a:pPr>
            <a:r>
              <a:rPr lang="en" sz="1600"/>
              <a:t>It is very good for a company to have 92 % of the order as delivered and only 8% of the orders are returned, refunded or cancelled.</a:t>
            </a:r>
            <a:endParaRPr sz="1600"/>
          </a:p>
        </p:txBody>
      </p:sp>
      <p:pic>
        <p:nvPicPr>
          <p:cNvPr id="202" name="Google Shape;202;p36" title="Chart"/>
          <p:cNvPicPr preferRelativeResize="0"/>
          <p:nvPr/>
        </p:nvPicPr>
        <p:blipFill>
          <a:blip r:embed="rId3">
            <a:alphaModFix/>
          </a:blip>
          <a:stretch>
            <a:fillRect/>
          </a:stretch>
        </p:blipFill>
        <p:spPr>
          <a:xfrm>
            <a:off x="164500" y="619075"/>
            <a:ext cx="4407499" cy="378030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idx="1" type="body"/>
          </p:nvPr>
        </p:nvSpPr>
        <p:spPr>
          <a:xfrm>
            <a:off x="455025" y="2571750"/>
            <a:ext cx="8377200" cy="2419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The Column chart of Orders vs Category is made in EXCEL.</a:t>
            </a:r>
            <a:endParaRPr sz="1600"/>
          </a:p>
          <a:p>
            <a:pPr indent="-330200" lvl="0" marL="457200" rtl="0" algn="l">
              <a:spcBef>
                <a:spcPts val="0"/>
              </a:spcBef>
              <a:spcAft>
                <a:spcPts val="0"/>
              </a:spcAft>
              <a:buSzPts val="1600"/>
              <a:buAutoNum type="arabicPeriod"/>
            </a:pPr>
            <a:r>
              <a:rPr lang="en" sz="1600"/>
              <a:t>It consists of Total number of orders from each Category which shows :</a:t>
            </a:r>
            <a:endParaRPr sz="1600"/>
          </a:p>
          <a:p>
            <a:pPr indent="0" lvl="0" marL="457200" rtl="0" algn="l">
              <a:spcBef>
                <a:spcPts val="400"/>
              </a:spcBef>
              <a:spcAft>
                <a:spcPts val="0"/>
              </a:spcAft>
              <a:buNone/>
            </a:pPr>
            <a:r>
              <a:rPr lang="en" sz="1600"/>
              <a:t>Max Ordered : Set has the maximum orders of 12391 delivered to the customers.</a:t>
            </a:r>
            <a:endParaRPr sz="1600"/>
          </a:p>
          <a:p>
            <a:pPr indent="0" lvl="0" marL="457200" rtl="0" algn="l">
              <a:spcBef>
                <a:spcPts val="400"/>
              </a:spcBef>
              <a:spcAft>
                <a:spcPts val="0"/>
              </a:spcAft>
              <a:buNone/>
            </a:pPr>
            <a:r>
              <a:rPr lang="en" sz="1600"/>
              <a:t>Min Ordered : Bottom Category has the minimum orders of 78 delivered to the customers.</a:t>
            </a:r>
            <a:endParaRPr sz="1600"/>
          </a:p>
          <a:p>
            <a:pPr indent="-330200" lvl="0" marL="457200" rtl="0" algn="l">
              <a:spcBef>
                <a:spcPts val="0"/>
              </a:spcBef>
              <a:spcAft>
                <a:spcPts val="0"/>
              </a:spcAft>
              <a:buSzPts val="1600"/>
              <a:buAutoNum type="arabicPeriod"/>
            </a:pPr>
            <a:r>
              <a:rPr lang="en" sz="1600"/>
              <a:t>The Graphs shows the booming products which are maximum ordered by the customers are Set and Kurta.</a:t>
            </a:r>
            <a:endParaRPr sz="1600"/>
          </a:p>
        </p:txBody>
      </p:sp>
      <p:pic>
        <p:nvPicPr>
          <p:cNvPr id="208" name="Google Shape;208;p37" title="Chart"/>
          <p:cNvPicPr preferRelativeResize="0"/>
          <p:nvPr/>
        </p:nvPicPr>
        <p:blipFill>
          <a:blip r:embed="rId3">
            <a:alphaModFix/>
          </a:blip>
          <a:stretch>
            <a:fillRect/>
          </a:stretch>
        </p:blipFill>
        <p:spPr>
          <a:xfrm>
            <a:off x="2207625" y="152400"/>
            <a:ext cx="4681190" cy="24193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8"/>
          <p:cNvSpPr txBox="1"/>
          <p:nvPr>
            <p:ph idx="1" type="body"/>
          </p:nvPr>
        </p:nvSpPr>
        <p:spPr>
          <a:xfrm>
            <a:off x="455025" y="3257550"/>
            <a:ext cx="8377200" cy="2419500"/>
          </a:xfrm>
          <a:prstGeom prst="rect">
            <a:avLst/>
          </a:prstGeom>
        </p:spPr>
        <p:txBody>
          <a:bodyPr anchorCtr="0" anchor="t" bIns="91425" lIns="91425" spcFirstLastPara="1" rIns="91425" wrap="square" tIns="91425">
            <a:noAutofit/>
          </a:bodyPr>
          <a:lstStyle/>
          <a:p>
            <a:pPr indent="-330200" lvl="0" marL="457200" rtl="0" algn="l">
              <a:spcBef>
                <a:spcPts val="0"/>
              </a:spcBef>
              <a:spcAft>
                <a:spcPts val="0"/>
              </a:spcAft>
              <a:buSzPts val="1600"/>
              <a:buAutoNum type="arabicPeriod"/>
            </a:pPr>
            <a:r>
              <a:rPr lang="en" sz="1600"/>
              <a:t>The Combo chart of Orders vs Category is made in EXCEL.</a:t>
            </a:r>
            <a:endParaRPr sz="1600"/>
          </a:p>
          <a:p>
            <a:pPr indent="-330200" lvl="0" marL="457200" rtl="0" algn="l">
              <a:spcBef>
                <a:spcPts val="0"/>
              </a:spcBef>
              <a:spcAft>
                <a:spcPts val="0"/>
              </a:spcAft>
              <a:buSzPts val="1600"/>
              <a:buAutoNum type="arabicPeriod"/>
            </a:pPr>
            <a:r>
              <a:rPr lang="en" sz="1600"/>
              <a:t>It consists of Total number of orders from each State which shows :</a:t>
            </a:r>
            <a:endParaRPr sz="1600"/>
          </a:p>
          <a:p>
            <a:pPr indent="0" lvl="0" marL="457200" rtl="0" algn="l">
              <a:spcBef>
                <a:spcPts val="400"/>
              </a:spcBef>
              <a:spcAft>
                <a:spcPts val="0"/>
              </a:spcAft>
              <a:buNone/>
            </a:pPr>
            <a:r>
              <a:rPr lang="en" sz="1600"/>
              <a:t>Max Ordered : </a:t>
            </a:r>
            <a:r>
              <a:rPr lang="en" sz="1600"/>
              <a:t>Maharashtra</a:t>
            </a:r>
            <a:r>
              <a:rPr lang="en" sz="1600"/>
              <a:t> has the maximum orders of 4148  delivered to the customers.</a:t>
            </a:r>
            <a:endParaRPr sz="1600"/>
          </a:p>
          <a:p>
            <a:pPr indent="-330200" lvl="0" marL="457200" rtl="0" algn="l">
              <a:spcBef>
                <a:spcPts val="400"/>
              </a:spcBef>
              <a:spcAft>
                <a:spcPts val="0"/>
              </a:spcAft>
              <a:buSzPts val="1600"/>
              <a:buAutoNum type="arabicPeriod"/>
            </a:pPr>
            <a:r>
              <a:rPr lang="en" sz="1600"/>
              <a:t>The Graphs shows that the major amount of orders are from the states Maharashtra, Karnataka, Uttar Pradesh and Tamil Nadu.</a:t>
            </a:r>
            <a:endParaRPr sz="1600"/>
          </a:p>
        </p:txBody>
      </p:sp>
      <p:pic>
        <p:nvPicPr>
          <p:cNvPr id="214" name="Google Shape;214;p38" title="Chart"/>
          <p:cNvPicPr preferRelativeResize="0"/>
          <p:nvPr/>
        </p:nvPicPr>
        <p:blipFill>
          <a:blip r:embed="rId3">
            <a:alphaModFix/>
          </a:blip>
          <a:stretch>
            <a:fillRect/>
          </a:stretch>
        </p:blipFill>
        <p:spPr>
          <a:xfrm>
            <a:off x="877800" y="76200"/>
            <a:ext cx="7357251" cy="31026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9"/>
          <p:cNvSpPr txBox="1"/>
          <p:nvPr>
            <p:ph type="title"/>
          </p:nvPr>
        </p:nvSpPr>
        <p:spPr>
          <a:xfrm>
            <a:off x="490250" y="73500"/>
            <a:ext cx="7690500" cy="994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4200"/>
              <a:t>Hypothesis Testing </a:t>
            </a:r>
            <a:r>
              <a:rPr b="1" lang="en" sz="4200"/>
              <a:t>:</a:t>
            </a:r>
            <a:endParaRPr sz="3500">
              <a:latin typeface="Average"/>
              <a:ea typeface="Average"/>
              <a:cs typeface="Average"/>
              <a:sym typeface="Average"/>
            </a:endParaRPr>
          </a:p>
        </p:txBody>
      </p:sp>
      <p:sp>
        <p:nvSpPr>
          <p:cNvPr id="220" name="Google Shape;220;p39"/>
          <p:cNvSpPr txBox="1"/>
          <p:nvPr/>
        </p:nvSpPr>
        <p:spPr>
          <a:xfrm>
            <a:off x="490250" y="860300"/>
            <a:ext cx="8193600" cy="4116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b="1" lang="en"/>
              <a:t>Questions :</a:t>
            </a:r>
            <a:endParaRPr b="1"/>
          </a:p>
          <a:p>
            <a:pPr indent="-317500" lvl="0" marL="457200" rtl="0" algn="l">
              <a:lnSpc>
                <a:spcPct val="115000"/>
              </a:lnSpc>
              <a:spcBef>
                <a:spcPts val="1200"/>
              </a:spcBef>
              <a:spcAft>
                <a:spcPts val="0"/>
              </a:spcAft>
              <a:buSzPts val="1400"/>
              <a:buAutoNum type="arabicPeriod"/>
            </a:pPr>
            <a:r>
              <a:rPr b="1" lang="en"/>
              <a:t>Is there a significant difference in the average amount spent by male and female customers?( Z test ) done</a:t>
            </a:r>
            <a:endParaRPr b="1"/>
          </a:p>
          <a:p>
            <a:pPr indent="-317500" lvl="0" marL="457200" rtl="0" algn="l">
              <a:lnSpc>
                <a:spcPct val="115000"/>
              </a:lnSpc>
              <a:spcBef>
                <a:spcPts val="0"/>
              </a:spcBef>
              <a:spcAft>
                <a:spcPts val="0"/>
              </a:spcAft>
              <a:buSzPts val="1400"/>
              <a:buAutoNum type="arabicPeriod"/>
            </a:pPr>
            <a:r>
              <a:rPr b="1" lang="en"/>
              <a:t>Does </a:t>
            </a:r>
            <a:r>
              <a:rPr b="1" lang="en"/>
              <a:t>the average amount spent differ significantly across different age groups? (One Way Anova as 3 grp mean are present ) done</a:t>
            </a:r>
            <a:endParaRPr b="1"/>
          </a:p>
          <a:p>
            <a:pPr indent="-317500" lvl="0" marL="457200" rtl="0" algn="l">
              <a:lnSpc>
                <a:spcPct val="115000"/>
              </a:lnSpc>
              <a:spcBef>
                <a:spcPts val="0"/>
              </a:spcBef>
              <a:spcAft>
                <a:spcPts val="0"/>
              </a:spcAft>
              <a:buSzPts val="1400"/>
              <a:buAutoNum type="arabicPeriod"/>
            </a:pPr>
            <a:r>
              <a:rPr b="1" lang="en"/>
              <a:t>Are there significant differences in product category preferences between male and female customers? (Chi-square test of Independence  as categorical variables of 2 grp) done</a:t>
            </a:r>
            <a:endParaRPr b="1"/>
          </a:p>
          <a:p>
            <a:pPr indent="-317500" lvl="0" marL="457200" rtl="0" algn="l">
              <a:lnSpc>
                <a:spcPct val="115000"/>
              </a:lnSpc>
              <a:spcBef>
                <a:spcPts val="0"/>
              </a:spcBef>
              <a:spcAft>
                <a:spcPts val="0"/>
              </a:spcAft>
              <a:buSzPts val="1400"/>
              <a:buAutoNum type="arabicPeriod"/>
            </a:pPr>
            <a:r>
              <a:rPr b="1" lang="en"/>
              <a:t>Is there a significant difference in the average total amount spent by B2B and B2C customers?( Z-test)(reject the null hypothesis) - using excel and python</a:t>
            </a:r>
            <a:endParaRPr b="1"/>
          </a:p>
          <a:p>
            <a:pPr indent="-317500" lvl="0" marL="457200" rtl="0" algn="l">
              <a:lnSpc>
                <a:spcPct val="115000"/>
              </a:lnSpc>
              <a:spcBef>
                <a:spcPts val="0"/>
              </a:spcBef>
              <a:spcAft>
                <a:spcPts val="0"/>
              </a:spcAft>
              <a:buSzPts val="1400"/>
              <a:buAutoNum type="arabicPeriod"/>
            </a:pPr>
            <a:r>
              <a:rPr b="1" lang="en"/>
              <a:t>Is there a significant difference in the total amount spent by customers from different shipping states? ( Not a Valid question) </a:t>
            </a:r>
            <a:endParaRPr b="1"/>
          </a:p>
          <a:p>
            <a:pPr indent="-317500" lvl="0" marL="457200" rtl="0" algn="l">
              <a:lnSpc>
                <a:spcPct val="115000"/>
              </a:lnSpc>
              <a:spcBef>
                <a:spcPts val="0"/>
              </a:spcBef>
              <a:spcAft>
                <a:spcPts val="0"/>
              </a:spcAft>
              <a:buSzPts val="1400"/>
              <a:buAutoNum type="arabicPeriod"/>
            </a:pPr>
            <a:r>
              <a:rPr b="1" lang="en"/>
              <a:t>Does the Qty differ significantly between different age groups of customers? (Chi -squareTest)</a:t>
            </a:r>
            <a:endParaRPr b="1"/>
          </a:p>
          <a:p>
            <a:pPr indent="-317500" lvl="0" marL="457200" rtl="0" algn="l">
              <a:lnSpc>
                <a:spcPct val="115000"/>
              </a:lnSpc>
              <a:spcBef>
                <a:spcPts val="0"/>
              </a:spcBef>
              <a:spcAft>
                <a:spcPts val="0"/>
              </a:spcAft>
              <a:buSzPts val="1400"/>
              <a:buAutoNum type="arabicPeriod"/>
            </a:pPr>
            <a:r>
              <a:rPr b="1" lang="en"/>
              <a:t>Are there significant differences in the preferred clothing size across different product categories? (Chi - Square Test for 2 </a:t>
            </a:r>
            <a:r>
              <a:rPr b="1" lang="en"/>
              <a:t>categorical</a:t>
            </a:r>
            <a:r>
              <a:rPr b="1" lang="en"/>
              <a:t> data)</a:t>
            </a:r>
            <a:endParaRPr b="1"/>
          </a:p>
          <a:p>
            <a:pPr indent="-317500" lvl="0" marL="457200" rtl="0" algn="l">
              <a:lnSpc>
                <a:spcPct val="115000"/>
              </a:lnSpc>
              <a:spcBef>
                <a:spcPts val="0"/>
              </a:spcBef>
              <a:spcAft>
                <a:spcPts val="0"/>
              </a:spcAft>
              <a:buSzPts val="1400"/>
              <a:buAutoNum type="arabicPeriod"/>
            </a:pPr>
            <a:r>
              <a:rPr b="1" lang="en"/>
              <a:t>Is there a significant variation in total revenue across different months of the year?(One -Way Anova)</a:t>
            </a:r>
            <a:endParaRPr b="1"/>
          </a:p>
          <a:p>
            <a:pPr indent="-317500" lvl="0" marL="457200" rtl="0" algn="l">
              <a:lnSpc>
                <a:spcPct val="115000"/>
              </a:lnSpc>
              <a:spcBef>
                <a:spcPts val="0"/>
              </a:spcBef>
              <a:spcAft>
                <a:spcPts val="0"/>
              </a:spcAft>
              <a:buSzPts val="1400"/>
              <a:buAutoNum type="arabicPeriod"/>
            </a:pPr>
            <a:r>
              <a:rPr b="1" lang="en"/>
              <a:t>Is there a significant difference in the no. of orders between B2B and B2C customers?(Z-test for proportion ) - internet used</a:t>
            </a:r>
            <a:endParaRPr b="1"/>
          </a:p>
        </p:txBody>
      </p:sp>
      <p:pic>
        <p:nvPicPr>
          <p:cNvPr id="221" name="Google Shape;221;p39"/>
          <p:cNvPicPr preferRelativeResize="0"/>
          <p:nvPr/>
        </p:nvPicPr>
        <p:blipFill>
          <a:blip r:embed="rId3">
            <a:alphaModFix/>
          </a:blip>
          <a:stretch>
            <a:fillRect/>
          </a:stretch>
        </p:blipFill>
        <p:spPr>
          <a:xfrm>
            <a:off x="3822847" y="6104075"/>
            <a:ext cx="5806478" cy="41160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nvSpPr>
        <p:spPr>
          <a:xfrm>
            <a:off x="529850" y="509550"/>
            <a:ext cx="7960500" cy="3755700"/>
          </a:xfrm>
          <a:prstGeom prst="rect">
            <a:avLst/>
          </a:prstGeom>
          <a:noFill/>
          <a:ln>
            <a:noFill/>
          </a:ln>
        </p:spPr>
        <p:txBody>
          <a:bodyPr anchorCtr="0" anchor="t" bIns="91425" lIns="91425" spcFirstLastPara="1" rIns="91425" wrap="square" tIns="91425">
            <a:spAutoFit/>
          </a:bodyPr>
          <a:lstStyle/>
          <a:p>
            <a:pPr indent="-330200" lvl="0" marL="457200" rtl="0" algn="l">
              <a:lnSpc>
                <a:spcPct val="150000"/>
              </a:lnSpc>
              <a:spcBef>
                <a:spcPts val="0"/>
              </a:spcBef>
              <a:spcAft>
                <a:spcPts val="0"/>
              </a:spcAft>
              <a:buClr>
                <a:schemeClr val="lt1"/>
              </a:buClr>
              <a:buSzPts val="1600"/>
              <a:buFont typeface="Average"/>
              <a:buAutoNum type="arabicPeriod"/>
            </a:pPr>
            <a:r>
              <a:rPr b="1" lang="en" sz="1600">
                <a:solidFill>
                  <a:schemeClr val="lt1"/>
                </a:solidFill>
                <a:latin typeface="Average"/>
                <a:ea typeface="Average"/>
                <a:cs typeface="Average"/>
                <a:sym typeface="Average"/>
              </a:rPr>
              <a:t>Is there a correlation between the amount spent and the quantity of items purchased?</a:t>
            </a:r>
            <a:endParaRPr b="1" sz="1600">
              <a:solidFill>
                <a:schemeClr val="lt1"/>
              </a:solidFill>
              <a:latin typeface="Average"/>
              <a:ea typeface="Average"/>
              <a:cs typeface="Average"/>
              <a:sym typeface="Average"/>
            </a:endParaRPr>
          </a:p>
          <a:p>
            <a:pPr indent="-330200" lvl="0" marL="457200" rtl="0" algn="l">
              <a:lnSpc>
                <a:spcPct val="150000"/>
              </a:lnSpc>
              <a:spcBef>
                <a:spcPts val="0"/>
              </a:spcBef>
              <a:spcAft>
                <a:spcPts val="0"/>
              </a:spcAft>
              <a:buClr>
                <a:schemeClr val="lt1"/>
              </a:buClr>
              <a:buSzPts val="1600"/>
              <a:buFont typeface="Average"/>
              <a:buAutoNum type="arabicPeriod"/>
            </a:pPr>
            <a:r>
              <a:rPr b="1" lang="en" sz="1600">
                <a:solidFill>
                  <a:schemeClr val="lt1"/>
                </a:solidFill>
                <a:latin typeface="Average"/>
                <a:ea typeface="Average"/>
                <a:cs typeface="Average"/>
                <a:sym typeface="Average"/>
              </a:rPr>
              <a:t>Is there a correlation between the age group of customers and the total amount spent?</a:t>
            </a:r>
            <a:endParaRPr b="1" sz="1600">
              <a:solidFill>
                <a:schemeClr val="lt1"/>
              </a:solidFill>
              <a:latin typeface="Average"/>
              <a:ea typeface="Average"/>
              <a:cs typeface="Average"/>
              <a:sym typeface="Average"/>
            </a:endParaRPr>
          </a:p>
          <a:p>
            <a:pPr indent="-330200" lvl="0" marL="457200" rtl="0" algn="l">
              <a:lnSpc>
                <a:spcPct val="150000"/>
              </a:lnSpc>
              <a:spcBef>
                <a:spcPts val="0"/>
              </a:spcBef>
              <a:spcAft>
                <a:spcPts val="0"/>
              </a:spcAft>
              <a:buClr>
                <a:schemeClr val="lt1"/>
              </a:buClr>
              <a:buSzPts val="1600"/>
              <a:buFont typeface="Average"/>
              <a:buAutoNum type="arabicPeriod"/>
            </a:pPr>
            <a:r>
              <a:rPr b="1" lang="en" sz="1600">
                <a:solidFill>
                  <a:schemeClr val="lt1"/>
                </a:solidFill>
                <a:latin typeface="Average"/>
                <a:ea typeface="Average"/>
                <a:cs typeface="Average"/>
                <a:sym typeface="Average"/>
              </a:rPr>
              <a:t>Is there a correlation between the gender of customers and the total amount spent?</a:t>
            </a:r>
            <a:endParaRPr b="1" sz="1600">
              <a:solidFill>
                <a:schemeClr val="lt1"/>
              </a:solidFill>
              <a:latin typeface="Average"/>
              <a:ea typeface="Average"/>
              <a:cs typeface="Average"/>
              <a:sym typeface="Average"/>
            </a:endParaRPr>
          </a:p>
          <a:p>
            <a:pPr indent="-330200" lvl="0" marL="457200" rtl="0" algn="l">
              <a:lnSpc>
                <a:spcPct val="150000"/>
              </a:lnSpc>
              <a:spcBef>
                <a:spcPts val="0"/>
              </a:spcBef>
              <a:spcAft>
                <a:spcPts val="0"/>
              </a:spcAft>
              <a:buClr>
                <a:schemeClr val="lt1"/>
              </a:buClr>
              <a:buSzPts val="1600"/>
              <a:buFont typeface="Average"/>
              <a:buAutoNum type="arabicPeriod"/>
            </a:pPr>
            <a:r>
              <a:rPr b="1" lang="en" sz="1600">
                <a:solidFill>
                  <a:schemeClr val="lt1"/>
                </a:solidFill>
                <a:latin typeface="Average"/>
                <a:ea typeface="Average"/>
                <a:cs typeface="Average"/>
                <a:sym typeface="Average"/>
              </a:rPr>
              <a:t>Is there a correlation between the order status and the total amount spent?</a:t>
            </a:r>
            <a:endParaRPr b="1" sz="1600">
              <a:solidFill>
                <a:schemeClr val="lt1"/>
              </a:solidFill>
              <a:latin typeface="Average"/>
              <a:ea typeface="Average"/>
              <a:cs typeface="Average"/>
              <a:sym typeface="Average"/>
            </a:endParaRPr>
          </a:p>
          <a:p>
            <a:pPr indent="-330200" lvl="0" marL="457200" rtl="0" algn="l">
              <a:lnSpc>
                <a:spcPct val="150000"/>
              </a:lnSpc>
              <a:spcBef>
                <a:spcPts val="0"/>
              </a:spcBef>
              <a:spcAft>
                <a:spcPts val="0"/>
              </a:spcAft>
              <a:buClr>
                <a:schemeClr val="lt1"/>
              </a:buClr>
              <a:buSzPts val="1600"/>
              <a:buFont typeface="Average"/>
              <a:buAutoNum type="arabicPeriod"/>
            </a:pPr>
            <a:r>
              <a:rPr b="1" lang="en" sz="1600">
                <a:solidFill>
                  <a:schemeClr val="lt1"/>
                </a:solidFill>
                <a:latin typeface="Average"/>
                <a:ea typeface="Average"/>
                <a:cs typeface="Average"/>
                <a:sym typeface="Average"/>
              </a:rPr>
              <a:t>Is there a correlation between the month of purchase and the total amount spent?</a:t>
            </a:r>
            <a:endParaRPr b="1" sz="1600">
              <a:solidFill>
                <a:schemeClr val="lt1"/>
              </a:solidFill>
              <a:latin typeface="Average"/>
              <a:ea typeface="Average"/>
              <a:cs typeface="Average"/>
              <a:sym typeface="Average"/>
            </a:endParaRPr>
          </a:p>
          <a:p>
            <a:pPr indent="-330200" lvl="0" marL="457200" rtl="0" algn="l">
              <a:lnSpc>
                <a:spcPct val="150000"/>
              </a:lnSpc>
              <a:spcBef>
                <a:spcPts val="0"/>
              </a:spcBef>
              <a:spcAft>
                <a:spcPts val="0"/>
              </a:spcAft>
              <a:buClr>
                <a:schemeClr val="lt1"/>
              </a:buClr>
              <a:buSzPts val="1600"/>
              <a:buFont typeface="Average"/>
              <a:buAutoNum type="arabicPeriod"/>
            </a:pPr>
            <a:r>
              <a:rPr b="1" lang="en" sz="1600">
                <a:solidFill>
                  <a:schemeClr val="lt1"/>
                </a:solidFill>
                <a:latin typeface="Average"/>
                <a:ea typeface="Average"/>
                <a:cs typeface="Average"/>
                <a:sym typeface="Average"/>
              </a:rPr>
              <a:t>Is there a correlation between the shipping state and the total amount spent?</a:t>
            </a:r>
            <a:endParaRPr b="1" sz="1600">
              <a:solidFill>
                <a:schemeClr val="lt1"/>
              </a:solidFill>
              <a:latin typeface="Average"/>
              <a:ea typeface="Average"/>
              <a:cs typeface="Average"/>
              <a:sym typeface="Average"/>
            </a:endParaRPr>
          </a:p>
          <a:p>
            <a:pPr indent="-330200" lvl="0" marL="457200" rtl="0" algn="l">
              <a:lnSpc>
                <a:spcPct val="150000"/>
              </a:lnSpc>
              <a:spcBef>
                <a:spcPts val="0"/>
              </a:spcBef>
              <a:spcAft>
                <a:spcPts val="0"/>
              </a:spcAft>
              <a:buClr>
                <a:schemeClr val="lt1"/>
              </a:buClr>
              <a:buSzPts val="1600"/>
              <a:buFont typeface="Average"/>
              <a:buAutoNum type="arabicPeriod"/>
            </a:pPr>
            <a:r>
              <a:rPr b="1" lang="en" sz="1600">
                <a:solidFill>
                  <a:schemeClr val="lt1"/>
                </a:solidFill>
                <a:latin typeface="Average"/>
                <a:ea typeface="Average"/>
                <a:cs typeface="Average"/>
                <a:sym typeface="Average"/>
              </a:rPr>
              <a:t>Is there a correlation between the size of the product and the total amount spent?</a:t>
            </a:r>
            <a:endParaRPr b="1" sz="1600">
              <a:solidFill>
                <a:schemeClr val="lt1"/>
              </a:solidFill>
              <a:latin typeface="Average"/>
              <a:ea typeface="Average"/>
              <a:cs typeface="Average"/>
              <a:sym typeface="Average"/>
            </a:endParaRPr>
          </a:p>
          <a:p>
            <a:pPr indent="-330200" lvl="0" marL="457200" rtl="0" algn="l">
              <a:lnSpc>
                <a:spcPct val="150000"/>
              </a:lnSpc>
              <a:spcBef>
                <a:spcPts val="0"/>
              </a:spcBef>
              <a:spcAft>
                <a:spcPts val="0"/>
              </a:spcAft>
              <a:buClr>
                <a:schemeClr val="lt1"/>
              </a:buClr>
              <a:buSzPts val="1600"/>
              <a:buFont typeface="Average"/>
              <a:buAutoNum type="arabicPeriod"/>
            </a:pPr>
            <a:r>
              <a:rPr b="1" lang="en" sz="1600">
                <a:solidFill>
                  <a:schemeClr val="lt1"/>
                </a:solidFill>
                <a:latin typeface="Average"/>
                <a:ea typeface="Average"/>
                <a:cs typeface="Average"/>
                <a:sym typeface="Average"/>
              </a:rPr>
              <a:t>Is there a correlation between the product category and the total amount spent?</a:t>
            </a:r>
            <a:endParaRPr b="1" sz="1600">
              <a:solidFill>
                <a:schemeClr val="lt1"/>
              </a:solidFill>
              <a:latin typeface="Average"/>
              <a:ea typeface="Average"/>
              <a:cs typeface="Average"/>
              <a:sym typeface="Average"/>
            </a:endParaRPr>
          </a:p>
          <a:p>
            <a:pPr indent="-330200" lvl="0" marL="457200" rtl="0" algn="l">
              <a:lnSpc>
                <a:spcPct val="150000"/>
              </a:lnSpc>
              <a:spcBef>
                <a:spcPts val="0"/>
              </a:spcBef>
              <a:spcAft>
                <a:spcPts val="0"/>
              </a:spcAft>
              <a:buClr>
                <a:schemeClr val="lt1"/>
              </a:buClr>
              <a:buSzPts val="1600"/>
              <a:buFont typeface="Average"/>
              <a:buAutoNum type="arabicPeriod"/>
            </a:pPr>
            <a:r>
              <a:rPr b="1" lang="en" sz="1600">
                <a:solidFill>
                  <a:schemeClr val="lt1"/>
                </a:solidFill>
                <a:latin typeface="Average"/>
                <a:ea typeface="Average"/>
                <a:cs typeface="Average"/>
                <a:sym typeface="Average"/>
              </a:rPr>
              <a:t>Is there a correlation between the channel used and the total amount spent?</a:t>
            </a:r>
            <a:endParaRPr b="1" sz="1600">
              <a:solidFill>
                <a:schemeClr val="lt1"/>
              </a:solidFill>
              <a:latin typeface="Average"/>
              <a:ea typeface="Average"/>
              <a:cs typeface="Average"/>
              <a:sym typeface="Average"/>
            </a:endParaRPr>
          </a:p>
          <a:p>
            <a:pPr indent="-330200" lvl="0" marL="457200" rtl="0" algn="l">
              <a:lnSpc>
                <a:spcPct val="150000"/>
              </a:lnSpc>
              <a:spcBef>
                <a:spcPts val="0"/>
              </a:spcBef>
              <a:spcAft>
                <a:spcPts val="0"/>
              </a:spcAft>
              <a:buClr>
                <a:schemeClr val="lt1"/>
              </a:buClr>
              <a:buSzPts val="1600"/>
              <a:buFont typeface="Average"/>
              <a:buAutoNum type="arabicPeriod"/>
            </a:pPr>
            <a:r>
              <a:rPr b="1" lang="en" sz="1600">
                <a:solidFill>
                  <a:schemeClr val="lt1"/>
                </a:solidFill>
                <a:latin typeface="Average"/>
                <a:ea typeface="Average"/>
                <a:cs typeface="Average"/>
                <a:sym typeface="Average"/>
              </a:rPr>
              <a:t>Is there a correlation between B2B column status and the total amount spent?</a:t>
            </a:r>
            <a:endParaRPr b="1" sz="1600">
              <a:solidFill>
                <a:schemeClr val="lt1"/>
              </a:solidFill>
              <a:latin typeface="Average"/>
              <a:ea typeface="Average"/>
              <a:cs typeface="Average"/>
              <a:sym typeface="Average"/>
            </a:endParaRPr>
          </a:p>
        </p:txBody>
      </p:sp>
      <p:sp>
        <p:nvSpPr>
          <p:cNvPr id="227" name="Google Shape;227;p40"/>
          <p:cNvSpPr txBox="1"/>
          <p:nvPr/>
        </p:nvSpPr>
        <p:spPr>
          <a:xfrm>
            <a:off x="501000" y="98275"/>
            <a:ext cx="7941300" cy="33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chemeClr val="lt1"/>
                </a:solidFill>
                <a:latin typeface="Average"/>
                <a:ea typeface="Average"/>
                <a:cs typeface="Average"/>
                <a:sym typeface="Average"/>
              </a:rPr>
              <a:t>Correlation :</a:t>
            </a:r>
            <a:endParaRPr b="1" sz="1800">
              <a:solidFill>
                <a:schemeClr val="lt1"/>
              </a:solidFill>
              <a:latin typeface="Average"/>
              <a:ea typeface="Average"/>
              <a:cs typeface="Average"/>
              <a:sym typeface="Average"/>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nvSpPr>
        <p:spPr>
          <a:xfrm>
            <a:off x="3904200" y="2314500"/>
            <a:ext cx="1335600" cy="5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lt1"/>
                </a:solidFill>
                <a:latin typeface="Average"/>
                <a:ea typeface="Average"/>
                <a:cs typeface="Average"/>
                <a:sym typeface="Average"/>
              </a:rPr>
              <a:t>Thank You!</a:t>
            </a:r>
            <a:endParaRPr sz="1800">
              <a:solidFill>
                <a:schemeClr val="lt1"/>
              </a:solidFill>
              <a:latin typeface="Average"/>
              <a:ea typeface="Average"/>
              <a:cs typeface="Average"/>
              <a:sym typeface="Averag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